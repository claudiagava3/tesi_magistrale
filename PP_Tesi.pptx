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notesSlides/notesSlide5.xml" ContentType="application/vnd.openxmlformats-officedocument.presentationml.notesSlide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9" r:id="rId6"/>
    <p:sldId id="260" r:id="rId7"/>
    <p:sldId id="262" r:id="rId8"/>
    <p:sldId id="263" r:id="rId9"/>
    <p:sldId id="265" r:id="rId10"/>
    <p:sldId id="266" r:id="rId11"/>
    <p:sldId id="267" r:id="rId12"/>
    <p:sldId id="268" r:id="rId13"/>
  </p:sldIdLst>
  <p:sldSz cx="18288000" cy="10287000"/>
  <p:notesSz cx="6858000" cy="9144000"/>
  <p:embeddedFontLst>
    <p:embeddedFont>
      <p:font typeface="Bicubik" panose="02000503020000020004" charset="0"/>
      <p:regular r:id="rId15"/>
    </p:embeddedFont>
    <p:embeddedFont>
      <p:font typeface="Cambria Math" panose="02040503050406030204" pitchFamily="18" charset="0"/>
      <p:regular r:id="rId16"/>
    </p:embeddedFont>
    <p:embeddedFont>
      <p:font typeface="Canva Sans" panose="020B0604020202020204" charset="0"/>
      <p:regular r:id="rId17"/>
    </p:embeddedFont>
    <p:embeddedFont>
      <p:font typeface="Canva Sans Bold" panose="020B0604020202020204" charset="0"/>
      <p:regular r:id="rId18"/>
    </p:embeddedFont>
    <p:embeddedFont>
      <p:font typeface="Open Sans Bold" panose="020B0604020202020204" charset="0"/>
      <p:regular r:id="rId19"/>
    </p:embeddedFont>
    <p:embeddedFont>
      <p:font typeface="Telegraf" panose="020B0604020202020204" charset="0"/>
      <p:regular r:id="rId20"/>
    </p:embeddedFont>
    <p:embeddedFont>
      <p:font typeface="Telegraf Bold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69728" autoAdjust="0"/>
  </p:normalViewPr>
  <p:slideViewPr>
    <p:cSldViewPr>
      <p:cViewPr>
        <p:scale>
          <a:sx n="28" d="100"/>
          <a:sy n="28" d="100"/>
        </p:scale>
        <p:origin x="1580" y="18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0T05:00:18.520"/>
    </inkml:context>
    <inkml:brush xml:id="br0">
      <inkml:brushProperty name="width" value="0.5" units="cm"/>
      <inkml:brushProperty name="height" value="1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1,'1927'0,"-1871"0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0T05:00:41.414"/>
    </inkml:context>
    <inkml:brush xml:id="br0">
      <inkml:brushProperty name="width" value="0.5" units="cm"/>
      <inkml:brushProperty name="height" value="1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189 1,'7826'0,"-15794"0,7922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0T05:00:57.490"/>
    </inkml:context>
    <inkml:brush xml:id="br0">
      <inkml:brushProperty name="width" value="0.5" units="cm"/>
      <inkml:brushProperty name="height" value="1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0,'174'0,"10"0,7490 0,-7615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0T05:01:23.358"/>
    </inkml:context>
    <inkml:brush xml:id="br0">
      <inkml:brushProperty name="width" value="0.5" units="cm"/>
      <inkml:brushProperty name="height" value="1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1,'14483'0,"-14434"0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0T05:01:37.619"/>
    </inkml:context>
    <inkml:brush xml:id="br0">
      <inkml:brushProperty name="width" value="0.5" units="cm"/>
      <inkml:brushProperty name="height" value="1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1,'14253'0,"-14194"0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2T11:49:27.713"/>
    </inkml:context>
    <inkml:brush xml:id="br0">
      <inkml:brushProperty name="width" value="0.5" units="cm"/>
      <inkml:brushProperty name="height" value="1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0,'4184'0,"-4116"0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2T11:50:17.188"/>
    </inkml:context>
    <inkml:brush xml:id="br0">
      <inkml:brushProperty name="width" value="0.5" units="cm"/>
      <inkml:brushProperty name="height" value="1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1,'5148'0,"-5085"0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2T16:28:39.032"/>
    </inkml:context>
    <inkml:brush xml:id="br0">
      <inkml:brushProperty name="width" value="0.5" units="cm"/>
      <inkml:brushProperty name="height" value="1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1,'398'0,"-104"0,3512 0,2007 0,-5748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2T16:29:00.348"/>
    </inkml:context>
    <inkml:brush xml:id="br0">
      <inkml:brushProperty name="width" value="0.5" units="cm"/>
      <inkml:brushProperty name="height" value="1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1,'5148'0,"-5085"0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2T16:29:15.352"/>
    </inkml:context>
    <inkml:brush xml:id="br0">
      <inkml:brushProperty name="width" value="0.5" units="cm"/>
      <inkml:brushProperty name="height" value="1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0,'4184'0,"-4116"0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2T16:29:55.022"/>
    </inkml:context>
    <inkml:brush xml:id="br0">
      <inkml:brushProperty name="width" value="0.5" units="cm"/>
      <inkml:brushProperty name="height" value="1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1,'398'0,"-104"0,3512 0,2007 0,-5748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CE6D09-C81E-4A85-9980-BF5FDDC5C424}" type="datetimeFigureOut">
              <a:rPr lang="it-IT" smtClean="0"/>
              <a:t>12/10/2026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A0D4F2-E9B5-4371-A04B-94EB2A91F47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547584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A0D4F2-E9B5-4371-A04B-94EB2A91F475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197356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Good </a:t>
            </a:r>
            <a:r>
              <a:rPr lang="it-IT" dirty="0" err="1"/>
              <a:t>morning</a:t>
            </a:r>
            <a:r>
              <a:rPr lang="it-IT" dirty="0"/>
              <a:t>. I </a:t>
            </a:r>
            <a:r>
              <a:rPr lang="it-IT" dirty="0" err="1"/>
              <a:t>am</a:t>
            </a:r>
            <a:r>
              <a:rPr lang="it-IT" dirty="0"/>
              <a:t> Claudia Gava, and </a:t>
            </a:r>
            <a:r>
              <a:rPr lang="it-IT" dirty="0" err="1"/>
              <a:t>today</a:t>
            </a:r>
            <a:r>
              <a:rPr lang="it-IT" dirty="0"/>
              <a:t> I </a:t>
            </a:r>
            <a:r>
              <a:rPr lang="it-IT" dirty="0" err="1"/>
              <a:t>will</a:t>
            </a:r>
            <a:r>
              <a:rPr lang="it-IT" dirty="0"/>
              <a:t> </a:t>
            </a:r>
            <a:r>
              <a:rPr lang="it-IT" dirty="0" err="1"/>
              <a:t>present</a:t>
            </a:r>
            <a:r>
              <a:rPr lang="it-IT" dirty="0"/>
              <a:t> </a:t>
            </a:r>
            <a:r>
              <a:rPr lang="it-IT" dirty="0" err="1"/>
              <a:t>my</a:t>
            </a:r>
            <a:r>
              <a:rPr lang="it-IT" dirty="0"/>
              <a:t> </a:t>
            </a:r>
            <a:r>
              <a:rPr lang="it-IT" dirty="0" err="1"/>
              <a:t>thesis</a:t>
            </a:r>
            <a:r>
              <a:rPr lang="it-IT" dirty="0"/>
              <a:t> on safe drone </a:t>
            </a:r>
            <a:r>
              <a:rPr lang="it-IT" dirty="0" err="1"/>
              <a:t>navigation</a:t>
            </a:r>
            <a:r>
              <a:rPr lang="it-IT" dirty="0"/>
              <a:t> in </a:t>
            </a:r>
            <a:r>
              <a:rPr lang="it-IT" dirty="0" err="1"/>
              <a:t>unknown</a:t>
            </a:r>
            <a:r>
              <a:rPr lang="it-IT" dirty="0"/>
              <a:t> </a:t>
            </a:r>
            <a:r>
              <a:rPr lang="it-IT" dirty="0" err="1"/>
              <a:t>environments</a:t>
            </a:r>
            <a:r>
              <a:rPr lang="it-IT" dirty="0"/>
              <a:t>, </a:t>
            </a:r>
            <a:r>
              <a:rPr lang="it-IT" dirty="0" err="1"/>
              <a:t>developed</a:t>
            </a:r>
            <a:r>
              <a:rPr lang="it-IT" dirty="0"/>
              <a:t> with the </a:t>
            </a:r>
            <a:r>
              <a:rPr lang="it-IT" dirty="0" err="1"/>
              <a:t>supervision</a:t>
            </a:r>
            <a:r>
              <a:rPr lang="it-IT" dirty="0"/>
              <a:t> of Professor Del Prete and PhD </a:t>
            </a:r>
            <a:r>
              <a:rPr lang="it-IT" dirty="0" err="1"/>
              <a:t>student</a:t>
            </a:r>
            <a:r>
              <a:rPr lang="it-IT" dirty="0"/>
              <a:t> Elias Fontanari.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A0D4F2-E9B5-4371-A04B-94EB2A91F475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559744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Safety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management in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robotics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major area of ​​focus,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given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increasingly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frequent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interaction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between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humans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robots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Furthermore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navigating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unmapped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spaces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requires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real-time reactions to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obstacles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dirty="0"/>
              <a:t>In this regard, Standard MPC is excellent for trajectory planning, but on its own—and with a short prediction horizon—it does not offer absolute safety guarantees. </a:t>
            </a:r>
            <a:r>
              <a:rPr lang="it-IT" dirty="0"/>
              <a:t>To </a:t>
            </a:r>
            <a:r>
              <a:rPr lang="it-IT" dirty="0" err="1"/>
              <a:t>mathematically</a:t>
            </a:r>
            <a:r>
              <a:rPr lang="it-IT" dirty="0"/>
              <a:t> </a:t>
            </a:r>
            <a:r>
              <a:rPr lang="it-IT" dirty="0" err="1"/>
              <a:t>ensure</a:t>
            </a:r>
            <a:r>
              <a:rPr lang="it-IT" dirty="0"/>
              <a:t> the drone </a:t>
            </a:r>
            <a:r>
              <a:rPr lang="it-IT" dirty="0" err="1"/>
              <a:t>never</a:t>
            </a:r>
            <a:r>
              <a:rPr lang="it-IT" dirty="0"/>
              <a:t> crashes the controller </a:t>
            </a:r>
            <a:r>
              <a:rPr lang="it-IT" dirty="0" err="1"/>
              <a:t>needs</a:t>
            </a:r>
            <a:r>
              <a:rPr lang="it-IT" dirty="0"/>
              <a:t> a Control-</a:t>
            </a:r>
            <a:r>
              <a:rPr lang="it-IT" dirty="0" err="1"/>
              <a:t>Invariant</a:t>
            </a:r>
            <a:r>
              <a:rPr lang="it-IT" dirty="0"/>
              <a:t> terminal set. Computing </a:t>
            </a:r>
            <a:r>
              <a:rPr lang="it-IT" dirty="0" err="1"/>
              <a:t>this</a:t>
            </a:r>
            <a:r>
              <a:rPr lang="it-IT" dirty="0"/>
              <a:t> for non-linear systems like </a:t>
            </a:r>
            <a:r>
              <a:rPr lang="it-IT" dirty="0" err="1"/>
              <a:t>drones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extremely</a:t>
            </a:r>
            <a:r>
              <a:rPr lang="it-IT" dirty="0"/>
              <a:t> </a:t>
            </a:r>
            <a:r>
              <a:rPr lang="it-IT" dirty="0" err="1"/>
              <a:t>difficult</a:t>
            </a:r>
            <a:r>
              <a:rPr lang="it-IT" dirty="0"/>
              <a:t>. State-of-the-art </a:t>
            </a:r>
            <a:r>
              <a:rPr lang="it-IT" dirty="0" err="1"/>
              <a:t>methods</a:t>
            </a:r>
            <a:r>
              <a:rPr lang="it-IT" dirty="0"/>
              <a:t> like </a:t>
            </a:r>
            <a:r>
              <a:rPr lang="it-IT" dirty="0" err="1"/>
              <a:t>DeepReach</a:t>
            </a:r>
            <a:r>
              <a:rPr lang="it-IT" dirty="0"/>
              <a:t> </a:t>
            </a:r>
            <a:r>
              <a:rPr lang="it-IT" dirty="0" err="1"/>
              <a:t>approximate</a:t>
            </a:r>
            <a:r>
              <a:rPr lang="it-IT" dirty="0"/>
              <a:t> </a:t>
            </a:r>
            <a:r>
              <a:rPr lang="it-IT" dirty="0" err="1"/>
              <a:t>it</a:t>
            </a:r>
            <a:r>
              <a:rPr lang="it-IT" dirty="0"/>
              <a:t>, </a:t>
            </a:r>
            <a:r>
              <a:rPr lang="it-IT" dirty="0" err="1"/>
              <a:t>but</a:t>
            </a:r>
            <a:r>
              <a:rPr lang="it-IT" dirty="0"/>
              <a:t> </a:t>
            </a:r>
            <a:r>
              <a:rPr lang="it-IT" dirty="0" err="1"/>
              <a:t>at</a:t>
            </a:r>
            <a:r>
              <a:rPr lang="it-IT" dirty="0"/>
              <a:t> </a:t>
            </a:r>
            <a:r>
              <a:rPr lang="it-IT" dirty="0" err="1"/>
              <a:t>huge</a:t>
            </a:r>
            <a:r>
              <a:rPr lang="it-IT" dirty="0"/>
              <a:t> </a:t>
            </a:r>
            <a:r>
              <a:rPr lang="it-IT" dirty="0" err="1"/>
              <a:t>computational</a:t>
            </a:r>
            <a:r>
              <a:rPr lang="it-IT" dirty="0"/>
              <a:t> costs. </a:t>
            </a:r>
            <a:r>
              <a:rPr lang="it-IT" dirty="0" err="1"/>
              <a:t>Our</a:t>
            </a:r>
            <a:r>
              <a:rPr lang="it-IT" dirty="0"/>
              <a:t> goal </a:t>
            </a:r>
            <a:r>
              <a:rPr lang="it-IT" dirty="0" err="1"/>
              <a:t>was</a:t>
            </a:r>
            <a:r>
              <a:rPr lang="it-IT" dirty="0"/>
              <a:t> to </a:t>
            </a:r>
            <a:r>
              <a:rPr lang="it-IT" dirty="0" err="1"/>
              <a:t>overcome</a:t>
            </a:r>
            <a:r>
              <a:rPr lang="it-IT" dirty="0"/>
              <a:t> </a:t>
            </a:r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bottleneck</a:t>
            </a:r>
            <a:r>
              <a:rPr lang="it-IT" dirty="0"/>
              <a:t>, </a:t>
            </a:r>
            <a:r>
              <a:rPr lang="it-IT" dirty="0" err="1"/>
              <a:t>combining</a:t>
            </a:r>
            <a:r>
              <a:rPr lang="it-IT" dirty="0"/>
              <a:t> </a:t>
            </a:r>
            <a:r>
              <a:rPr lang="it-IT" dirty="0" err="1"/>
              <a:t>MPC's</a:t>
            </a:r>
            <a:r>
              <a:rPr lang="it-IT" dirty="0"/>
              <a:t> </a:t>
            </a:r>
            <a:r>
              <a:rPr lang="it-IT" dirty="0" err="1"/>
              <a:t>optimality</a:t>
            </a:r>
            <a:r>
              <a:rPr lang="it-IT" dirty="0"/>
              <a:t> with NN </a:t>
            </a:r>
            <a:r>
              <a:rPr lang="it-IT" dirty="0" err="1"/>
              <a:t>safety</a:t>
            </a:r>
            <a:r>
              <a:rPr lang="it-IT" dirty="0"/>
              <a:t> </a:t>
            </a:r>
            <a:r>
              <a:rPr lang="it-IT" dirty="0" err="1"/>
              <a:t>guarantees</a:t>
            </a:r>
            <a:r>
              <a:rPr lang="it-IT" dirty="0"/>
              <a:t>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A0D4F2-E9B5-4371-A04B-94EB2A91F475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820425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dirty="0"/>
              <a:t>To </a:t>
            </a:r>
            <a:r>
              <a:rPr lang="it-IT" dirty="0" err="1"/>
              <a:t>achieve</a:t>
            </a:r>
            <a:r>
              <a:rPr lang="it-IT" dirty="0"/>
              <a:t> </a:t>
            </a:r>
            <a:r>
              <a:rPr lang="it-IT" dirty="0" err="1"/>
              <a:t>this</a:t>
            </a:r>
            <a:r>
              <a:rPr lang="it-IT" dirty="0"/>
              <a:t>, </a:t>
            </a:r>
            <a:r>
              <a:rPr lang="it-IT" dirty="0" err="1"/>
              <a:t>we</a:t>
            </a:r>
            <a:r>
              <a:rPr lang="it-IT" dirty="0"/>
              <a:t> </a:t>
            </a:r>
            <a:r>
              <a:rPr lang="it-IT" dirty="0" err="1"/>
              <a:t>adapted</a:t>
            </a:r>
            <a:r>
              <a:rPr lang="it-IT" dirty="0"/>
              <a:t> the VBOC </a:t>
            </a:r>
            <a:r>
              <a:rPr lang="it-IT" dirty="0" err="1"/>
              <a:t>algorithm</a:t>
            </a:r>
            <a:r>
              <a:rPr lang="it-IT" dirty="0"/>
              <a:t>—</a:t>
            </a:r>
            <a:r>
              <a:rPr lang="it-IT" dirty="0" err="1"/>
              <a:t>originally</a:t>
            </a:r>
            <a:r>
              <a:rPr lang="it-IT" dirty="0"/>
              <a:t> for </a:t>
            </a:r>
            <a:r>
              <a:rPr lang="it-IT" dirty="0" err="1"/>
              <a:t>manipulators</a:t>
            </a:r>
            <a:r>
              <a:rPr lang="it-IT" dirty="0"/>
              <a:t>—to </a:t>
            </a:r>
            <a:r>
              <a:rPr lang="it-IT" dirty="0" err="1"/>
              <a:t>drones</a:t>
            </a:r>
            <a:r>
              <a:rPr lang="it-IT" dirty="0"/>
              <a:t>, </a:t>
            </a:r>
            <a:r>
              <a:rPr lang="it-IT" dirty="0" err="1"/>
              <a:t>introducing</a:t>
            </a:r>
            <a:r>
              <a:rPr lang="it-IT" dirty="0"/>
              <a:t> the </a:t>
            </a:r>
            <a:r>
              <a:rPr lang="it-IT" b="1" dirty="0"/>
              <a:t>Recovery Box</a:t>
            </a:r>
            <a:r>
              <a:rPr lang="it-IT" dirty="0"/>
              <a:t>. </a:t>
            </a:r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an </a:t>
            </a:r>
            <a:r>
              <a:rPr lang="it-IT" dirty="0" err="1"/>
              <a:t>asymmetric</a:t>
            </a:r>
            <a:r>
              <a:rPr lang="it-IT" dirty="0"/>
              <a:t> box </a:t>
            </a:r>
            <a:r>
              <a:rPr lang="it-IT" dirty="0" err="1"/>
              <a:t>modeled</a:t>
            </a:r>
            <a:r>
              <a:rPr lang="it-IT" dirty="0"/>
              <a:t> </a:t>
            </a:r>
            <a:r>
              <a:rPr lang="it-IT" dirty="0" err="1"/>
              <a:t>around</a:t>
            </a:r>
            <a:r>
              <a:rPr lang="it-IT" dirty="0"/>
              <a:t> the drone, </a:t>
            </a:r>
            <a:r>
              <a:rPr lang="it-IT" dirty="0" err="1"/>
              <a:t>representing</a:t>
            </a:r>
            <a:r>
              <a:rPr lang="it-IT" dirty="0"/>
              <a:t> </a:t>
            </a:r>
            <a:r>
              <a:rPr lang="it-IT" dirty="0" err="1"/>
              <a:t>its</a:t>
            </a:r>
            <a:r>
              <a:rPr lang="it-IT" dirty="0"/>
              <a:t> </a:t>
            </a:r>
            <a:r>
              <a:rPr lang="it-IT" dirty="0" err="1"/>
              <a:t>required</a:t>
            </a:r>
            <a:r>
              <a:rPr lang="it-IT" dirty="0"/>
              <a:t> </a:t>
            </a:r>
            <a:r>
              <a:rPr lang="it-IT" dirty="0" err="1"/>
              <a:t>stopping</a:t>
            </a:r>
            <a:r>
              <a:rPr lang="it-IT" dirty="0"/>
              <a:t> </a:t>
            </a:r>
            <a:r>
              <a:rPr lang="it-IT" dirty="0" err="1"/>
              <a:t>space</a:t>
            </a:r>
            <a:r>
              <a:rPr lang="it-IT" dirty="0"/>
              <a:t>. Offline, </a:t>
            </a:r>
            <a:r>
              <a:rPr lang="it-IT" dirty="0" err="1"/>
              <a:t>we</a:t>
            </a:r>
            <a:r>
              <a:rPr lang="it-IT" dirty="0"/>
              <a:t> solve </a:t>
            </a:r>
            <a:r>
              <a:rPr lang="it-IT" dirty="0" err="1"/>
              <a:t>thousands</a:t>
            </a:r>
            <a:r>
              <a:rPr lang="it-IT" dirty="0"/>
              <a:t> of </a:t>
            </a:r>
            <a:r>
              <a:rPr lang="it-IT" dirty="0" err="1"/>
              <a:t>optimal</a:t>
            </a:r>
            <a:r>
              <a:rPr lang="it-IT" dirty="0"/>
              <a:t> control </a:t>
            </a:r>
            <a:r>
              <a:rPr lang="it-IT" dirty="0" err="1"/>
              <a:t>problems</a:t>
            </a:r>
            <a:r>
              <a:rPr lang="it-IT" dirty="0"/>
              <a:t> to </a:t>
            </a:r>
            <a:r>
              <a:rPr lang="it-IT" dirty="0" err="1"/>
              <a:t>find</a:t>
            </a:r>
            <a:r>
              <a:rPr lang="it-IT" dirty="0"/>
              <a:t> the minimal box </a:t>
            </a:r>
            <a:r>
              <a:rPr lang="it-IT" dirty="0" err="1"/>
              <a:t>dimensions</a:t>
            </a:r>
            <a:r>
              <a:rPr lang="it-IT" dirty="0"/>
              <a:t> </a:t>
            </a:r>
            <a:r>
              <a:rPr lang="it-IT" dirty="0" err="1"/>
              <a:t>across</a:t>
            </a:r>
            <a:r>
              <a:rPr lang="it-IT" dirty="0"/>
              <a:t> random </a:t>
            </a:r>
            <a:r>
              <a:rPr lang="it-IT" dirty="0" err="1"/>
              <a:t>initial</a:t>
            </a:r>
            <a:r>
              <a:rPr lang="it-IT" dirty="0"/>
              <a:t> </a:t>
            </a:r>
            <a:r>
              <a:rPr lang="it-IT" dirty="0" err="1"/>
              <a:t>conditions</a:t>
            </a:r>
            <a:endParaRPr lang="it-IT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A0D4F2-E9B5-4371-A04B-94EB2A91F475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649150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note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As </a:t>
                </a:r>
                <a:r>
                  <a:rPr lang="it-IT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you</a:t>
                </a:r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can </a:t>
                </a:r>
                <a:r>
                  <a:rPr lang="it-IT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see</a:t>
                </a:r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in </a:t>
                </a:r>
                <a:r>
                  <a:rPr lang="it-IT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its</a:t>
                </a:r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it-IT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formulation</a:t>
                </a:r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the </a:t>
                </a:r>
                <a:r>
                  <a:rPr lang="it-IT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Optimal</a:t>
                </a:r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Control </a:t>
                </a:r>
                <a:r>
                  <a:rPr lang="it-IT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Problem</a:t>
                </a:r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it-IT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minimizes</a:t>
                </a:r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it-IT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solely</a:t>
                </a:r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the scaling factor. </a:t>
                </a:r>
                <a:r>
                  <a:rPr lang="it-IT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This</a:t>
                </a:r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it-IT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variable</a:t>
                </a:r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it-IT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is</a:t>
                </a:r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it-IT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included</a:t>
                </a:r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in the </a:t>
                </a:r>
                <a:r>
                  <a:rPr lang="it-IT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drone's</a:t>
                </a:r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state </a:t>
                </a:r>
                <a14:m>
                  <m:oMath xmlns:m="http://schemas.openxmlformats.org/officeDocument/2006/math">
                    <m:r>
                      <a:rPr lang="it-IT" sz="1200" i="1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  <m:r>
                      <a:rPr lang="it-IT" sz="1200" b="0" i="1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</m:oMath>
                </a14:m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and </a:t>
                </a:r>
                <a:r>
                  <a:rPr lang="it-IT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extracted</a:t>
                </a:r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it-IT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using</a:t>
                </a:r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the </a:t>
                </a:r>
                <a:r>
                  <a:rPr lang="it-IT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binary</a:t>
                </a:r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it-IT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vector</a:t>
                </a:r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lang="it-IT" sz="1200" i="1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𝑎</m:t>
                    </m:r>
                  </m:oMath>
                </a14:m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</a:p>
              <a:p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</a:t>
                </a:r>
                <a:r>
                  <a:rPr lang="it-IT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constraints</a:t>
                </a:r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it-IT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embed</a:t>
                </a:r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the </a:t>
                </a:r>
                <a:r>
                  <a:rPr lang="it-IT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drone's</a:t>
                </a:r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it-IT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dynamic</a:t>
                </a:r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model—</a:t>
                </a:r>
                <a:r>
                  <a:rPr lang="it-IT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which</a:t>
                </a:r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it-IT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we</a:t>
                </a:r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it-IT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analyzed</a:t>
                </a:r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for </a:t>
                </a:r>
                <a:r>
                  <a:rPr lang="it-IT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both</a:t>
                </a:r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a </a:t>
                </a:r>
                <a:r>
                  <a:rPr lang="it-IT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simplified</a:t>
                </a:r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it-IT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bicopter</a:t>
                </a:r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and the full </a:t>
                </a:r>
                <a:r>
                  <a:rPr lang="it-IT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quadcopter</a:t>
                </a:r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—</a:t>
                </a:r>
                <a:r>
                  <a:rPr lang="it-IT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along</a:t>
                </a:r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with </a:t>
                </a:r>
                <a:r>
                  <a:rPr lang="it-IT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physical</a:t>
                </a:r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it-IT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limits</a:t>
                </a:r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on </a:t>
                </a:r>
                <a:r>
                  <a:rPr lang="it-IT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velocities</a:t>
                </a:r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it-IT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angles</a:t>
                </a:r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and </a:t>
                </a:r>
                <a:r>
                  <a:rPr lang="it-IT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motors</a:t>
                </a:r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</a:p>
              <a:p>
                <a:r>
                  <a:rPr lang="it-IT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Crucially</a:t>
                </a:r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the </a:t>
                </a:r>
                <a:r>
                  <a:rPr lang="it-IT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constraints</a:t>
                </a:r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it-IT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mathematically</a:t>
                </a:r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it-IT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enforce</a:t>
                </a:r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it-IT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two</a:t>
                </a:r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it-IT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things</a:t>
                </a:r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: the drone must </a:t>
                </a:r>
                <a:r>
                  <a:rPr lang="it-IT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remain</a:t>
                </a:r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it-IT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strictly</a:t>
                </a:r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inside the box </a:t>
                </a:r>
                <a:r>
                  <a:rPr lang="it-IT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during</a:t>
                </a:r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the </a:t>
                </a:r>
                <a:r>
                  <a:rPr lang="it-IT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entire</a:t>
                </a:r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it-IT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maneuver</a:t>
                </a:r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and the box can </a:t>
                </a:r>
                <a:r>
                  <a:rPr lang="it-IT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never</a:t>
                </a:r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be </a:t>
                </a:r>
                <a:r>
                  <a:rPr lang="it-IT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smaller</a:t>
                </a:r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it-IT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than</a:t>
                </a:r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the drone </a:t>
                </a:r>
                <a:r>
                  <a:rPr lang="it-IT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itself</a:t>
                </a:r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</a:p>
              <a:p>
                <a:r>
                  <a:rPr lang="it-IT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Finally</a:t>
                </a:r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it-IT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starting</a:t>
                </a:r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from </a:t>
                </a:r>
                <a:r>
                  <a:rPr lang="it-IT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randomized</a:t>
                </a:r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it-IT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initial</a:t>
                </a:r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it-IT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conditions</a:t>
                </a:r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the last equality </a:t>
                </a:r>
                <a:r>
                  <a:rPr lang="it-IT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constraint</a:t>
                </a:r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it-IT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</m:e>
                      <m:sub>
                        <m:r>
                          <a:rPr lang="it-IT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𝑁</m:t>
                        </m:r>
                      </m:sub>
                    </m:sSub>
                    <m:r>
                      <a:rPr lang="it-IT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sSub>
                      <m:sSubPr>
                        <m:ctrlPr>
                          <a:rPr lang="it-IT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it-IT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</m:e>
                      <m:sub>
                        <m:r>
                          <a:rPr lang="it-IT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𝑁</m:t>
                        </m:r>
                        <m:r>
                          <a:rPr lang="it-IT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 </a:t>
                </a:r>
                <a:r>
                  <a:rPr lang="it-IT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ensures</a:t>
                </a:r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it-IT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that</a:t>
                </a:r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the drone </a:t>
                </a:r>
                <a:r>
                  <a:rPr lang="it-IT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reaches</a:t>
                </a:r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a </a:t>
                </a:r>
                <a:r>
                  <a:rPr lang="it-IT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stable</a:t>
                </a:r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it-IT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equilibrium</a:t>
                </a:r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 </a:t>
                </a:r>
                <a:r>
                  <a:rPr lang="it-IT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This</a:t>
                </a:r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it-IT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guarantees</a:t>
                </a:r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it-IT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that</a:t>
                </a:r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it-IT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at</a:t>
                </a:r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the end of the </a:t>
                </a:r>
                <a:r>
                  <a:rPr lang="it-IT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optimization</a:t>
                </a:r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the drone </a:t>
                </a:r>
                <a:r>
                  <a:rPr lang="it-IT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has</a:t>
                </a:r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come to a complete and safe stop.</a:t>
                </a:r>
              </a:p>
            </p:txBody>
          </p:sp>
        </mc:Choice>
        <mc:Fallback xmlns="">
          <p:sp>
            <p:nvSpPr>
              <p:cNvPr id="3" name="Segnaposto note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As </a:t>
                </a:r>
                <a:r>
                  <a:rPr lang="it-IT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you</a:t>
                </a:r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can </a:t>
                </a:r>
                <a:r>
                  <a:rPr lang="it-IT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see</a:t>
                </a:r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in </a:t>
                </a:r>
                <a:r>
                  <a:rPr lang="it-IT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its</a:t>
                </a:r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it-IT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formulation</a:t>
                </a:r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the </a:t>
                </a:r>
                <a:r>
                  <a:rPr lang="it-IT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Optimal</a:t>
                </a:r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Control </a:t>
                </a:r>
                <a:r>
                  <a:rPr lang="it-IT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Problem</a:t>
                </a:r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it-IT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minimizes</a:t>
                </a:r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it-IT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solely</a:t>
                </a:r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the scaling factor. </a:t>
                </a:r>
                <a:r>
                  <a:rPr lang="it-IT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This</a:t>
                </a:r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it-IT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variable</a:t>
                </a:r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it-IT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is</a:t>
                </a:r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it-IT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included</a:t>
                </a:r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in the </a:t>
                </a:r>
                <a:r>
                  <a:rPr lang="it-IT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drone's</a:t>
                </a:r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state </a:t>
                </a:r>
                <a:r>
                  <a:rPr lang="it-IT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it-IT" sz="1200" b="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 </a:t>
                </a:r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and </a:t>
                </a:r>
                <a:r>
                  <a:rPr lang="it-IT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extracted</a:t>
                </a:r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it-IT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using</a:t>
                </a:r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the </a:t>
                </a:r>
                <a:r>
                  <a:rPr lang="it-IT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binary</a:t>
                </a:r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it-IT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vector</a:t>
                </a:r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it-IT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𝑎</a:t>
                </a:r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</a:p>
              <a:p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</a:t>
                </a:r>
                <a:r>
                  <a:rPr lang="it-IT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constraints</a:t>
                </a:r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it-IT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embed</a:t>
                </a:r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the </a:t>
                </a:r>
                <a:r>
                  <a:rPr lang="it-IT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drone's</a:t>
                </a:r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it-IT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dynamic</a:t>
                </a:r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model—</a:t>
                </a:r>
                <a:r>
                  <a:rPr lang="it-IT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which</a:t>
                </a:r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it-IT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we</a:t>
                </a:r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it-IT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analyzed</a:t>
                </a:r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for </a:t>
                </a:r>
                <a:r>
                  <a:rPr lang="it-IT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both</a:t>
                </a:r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a </a:t>
                </a:r>
                <a:r>
                  <a:rPr lang="it-IT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simplified</a:t>
                </a:r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it-IT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bicopter</a:t>
                </a:r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and the full </a:t>
                </a:r>
                <a:r>
                  <a:rPr lang="it-IT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quadcopter</a:t>
                </a:r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—</a:t>
                </a:r>
                <a:r>
                  <a:rPr lang="it-IT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along</a:t>
                </a:r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with </a:t>
                </a:r>
                <a:r>
                  <a:rPr lang="it-IT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physical</a:t>
                </a:r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it-IT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limits</a:t>
                </a:r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on </a:t>
                </a:r>
                <a:r>
                  <a:rPr lang="it-IT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velocities</a:t>
                </a:r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it-IT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angles</a:t>
                </a:r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and </a:t>
                </a:r>
                <a:r>
                  <a:rPr lang="it-IT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motors</a:t>
                </a:r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</a:p>
              <a:p>
                <a:r>
                  <a:rPr lang="it-IT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Crucially</a:t>
                </a:r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the </a:t>
                </a:r>
                <a:r>
                  <a:rPr lang="it-IT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constraints</a:t>
                </a:r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it-IT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mathematically</a:t>
                </a:r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it-IT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enforce</a:t>
                </a:r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it-IT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two</a:t>
                </a:r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it-IT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things</a:t>
                </a:r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: the drone must </a:t>
                </a:r>
                <a:r>
                  <a:rPr lang="it-IT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remain</a:t>
                </a:r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it-IT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strictly</a:t>
                </a:r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inside the box </a:t>
                </a:r>
                <a:r>
                  <a:rPr lang="it-IT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during</a:t>
                </a:r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the </a:t>
                </a:r>
                <a:r>
                  <a:rPr lang="it-IT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entire</a:t>
                </a:r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it-IT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maneuver</a:t>
                </a:r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and the box can </a:t>
                </a:r>
                <a:r>
                  <a:rPr lang="it-IT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never</a:t>
                </a:r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be </a:t>
                </a:r>
                <a:r>
                  <a:rPr lang="it-IT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smaller</a:t>
                </a:r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it-IT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than</a:t>
                </a:r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the drone </a:t>
                </a:r>
                <a:r>
                  <a:rPr lang="it-IT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itself</a:t>
                </a:r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</a:p>
              <a:p>
                <a:r>
                  <a:rPr lang="it-IT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Finally</a:t>
                </a:r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it-IT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starting</a:t>
                </a:r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from </a:t>
                </a:r>
                <a:r>
                  <a:rPr lang="it-IT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randomized</a:t>
                </a:r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it-IT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initial</a:t>
                </a:r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it-IT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conditions</a:t>
                </a:r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the last equality </a:t>
                </a:r>
                <a:r>
                  <a:rPr lang="it-IT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constraint</a:t>
                </a:r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</a:t>
                </a:r>
                <a:r>
                  <a:rPr lang="it-IT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𝑥_𝑁=𝑥_(𝑁−1)</a:t>
                </a:r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 </a:t>
                </a:r>
                <a:r>
                  <a:rPr lang="it-IT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ensures</a:t>
                </a:r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it-IT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that</a:t>
                </a:r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the drone </a:t>
                </a:r>
                <a:r>
                  <a:rPr lang="it-IT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reaches</a:t>
                </a:r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a </a:t>
                </a:r>
                <a:r>
                  <a:rPr lang="it-IT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stable</a:t>
                </a:r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it-IT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equilibrium</a:t>
                </a:r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 </a:t>
                </a:r>
                <a:r>
                  <a:rPr lang="it-IT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This</a:t>
                </a:r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it-IT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guarantees</a:t>
                </a:r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it-IT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that</a:t>
                </a:r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it-IT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at</a:t>
                </a:r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the end of the </a:t>
                </a:r>
                <a:r>
                  <a:rPr lang="it-IT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optimization</a:t>
                </a:r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the drone </a:t>
                </a:r>
                <a:r>
                  <a:rPr lang="it-IT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has</a:t>
                </a:r>
                <a:r>
                  <a:rPr lang="it-IT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come to a complete and safe stop.</a:t>
                </a:r>
              </a:p>
            </p:txBody>
          </p:sp>
        </mc:Fallback>
      </mc:AlternateContent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A0D4F2-E9B5-4371-A04B-94EB2A91F475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599188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it-IT" dirty="0" err="1"/>
              <a:t>This</a:t>
            </a:r>
            <a:r>
              <a:rPr lang="it-IT" dirty="0"/>
              <a:t> massive dataset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then</a:t>
            </a:r>
            <a:r>
              <a:rPr lang="it-IT" dirty="0"/>
              <a:t> </a:t>
            </a:r>
            <a:r>
              <a:rPr lang="it-IT" dirty="0" err="1"/>
              <a:t>used</a:t>
            </a:r>
            <a:r>
              <a:rPr lang="it-IT" dirty="0"/>
              <a:t> to </a:t>
            </a:r>
            <a:r>
              <a:rPr lang="it-IT" dirty="0" err="1"/>
              <a:t>train</a:t>
            </a:r>
            <a:r>
              <a:rPr lang="it-IT" dirty="0"/>
              <a:t> a NN. </a:t>
            </a:r>
            <a:r>
              <a:rPr lang="it-IT" dirty="0" err="1"/>
              <a:t>Now</a:t>
            </a:r>
            <a:r>
              <a:rPr lang="it-IT" dirty="0"/>
              <a:t>, </a:t>
            </a:r>
            <a:r>
              <a:rPr lang="it-IT" dirty="0" err="1"/>
              <a:t>given</a:t>
            </a:r>
            <a:r>
              <a:rPr lang="it-IT" dirty="0"/>
              <a:t> the </a:t>
            </a:r>
            <a:r>
              <a:rPr lang="it-IT" dirty="0" err="1"/>
              <a:t>drone's</a:t>
            </a:r>
            <a:r>
              <a:rPr lang="it-IT" dirty="0"/>
              <a:t> </a:t>
            </a:r>
            <a:r>
              <a:rPr lang="it-IT" dirty="0" err="1"/>
              <a:t>current</a:t>
            </a:r>
            <a:r>
              <a:rPr lang="it-IT" dirty="0"/>
              <a:t> state, the network </a:t>
            </a:r>
            <a:r>
              <a:rPr lang="it-IT" dirty="0" err="1"/>
              <a:t>instantly</a:t>
            </a:r>
            <a:r>
              <a:rPr lang="it-IT" dirty="0"/>
              <a:t> </a:t>
            </a:r>
            <a:r>
              <a:rPr lang="it-IT" dirty="0" err="1"/>
              <a:t>predicts</a:t>
            </a:r>
            <a:r>
              <a:rPr lang="it-IT" dirty="0"/>
              <a:t> the </a:t>
            </a:r>
            <a:r>
              <a:rPr lang="it-IT" dirty="0" err="1"/>
              <a:t>required</a:t>
            </a:r>
            <a:r>
              <a:rPr lang="it-IT" dirty="0"/>
              <a:t> </a:t>
            </a:r>
            <a:r>
              <a:rPr lang="it-IT" dirty="0" err="1"/>
              <a:t>stopping</a:t>
            </a:r>
            <a:r>
              <a:rPr lang="it-IT" dirty="0"/>
              <a:t> </a:t>
            </a:r>
            <a:r>
              <a:rPr lang="it-IT" dirty="0" err="1"/>
              <a:t>space</a:t>
            </a:r>
            <a:r>
              <a:rPr lang="it-IT" dirty="0"/>
              <a:t>, </a:t>
            </a:r>
            <a:r>
              <a:rPr lang="it-IT" dirty="0" err="1"/>
              <a:t>outputting</a:t>
            </a:r>
            <a:r>
              <a:rPr lang="it-IT" dirty="0"/>
              <a:t> a scaling factor. </a:t>
            </a:r>
            <a:r>
              <a:rPr lang="it-IT" dirty="0" err="1"/>
              <a:t>Finally</a:t>
            </a:r>
            <a:r>
              <a:rPr lang="it-IT" dirty="0"/>
              <a:t>, </a:t>
            </a:r>
            <a:r>
              <a:rPr lang="it-IT" dirty="0" err="1"/>
              <a:t>this</a:t>
            </a:r>
            <a:r>
              <a:rPr lang="it-IT" dirty="0"/>
              <a:t> network acts </a:t>
            </a:r>
            <a:r>
              <a:rPr lang="it-IT" dirty="0" err="1"/>
              <a:t>as</a:t>
            </a:r>
            <a:r>
              <a:rPr lang="it-IT" dirty="0"/>
              <a:t> a terminal </a:t>
            </a:r>
            <a:r>
              <a:rPr lang="it-IT" dirty="0" err="1"/>
              <a:t>constraint</a:t>
            </a:r>
            <a:r>
              <a:rPr lang="it-IT" dirty="0"/>
              <a:t> in </a:t>
            </a:r>
            <a:r>
              <a:rPr lang="it-IT" dirty="0" err="1"/>
              <a:t>our</a:t>
            </a:r>
            <a:r>
              <a:rPr lang="it-IT" dirty="0"/>
              <a:t> real-time MPC, </a:t>
            </a:r>
            <a:r>
              <a:rPr lang="it-IT" dirty="0" err="1"/>
              <a:t>mathematically</a:t>
            </a:r>
            <a:r>
              <a:rPr lang="it-IT" dirty="0"/>
              <a:t> </a:t>
            </a:r>
            <a:r>
              <a:rPr lang="it-IT" dirty="0" err="1"/>
              <a:t>guaranteeing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the </a:t>
            </a:r>
            <a:r>
              <a:rPr lang="it-IT" dirty="0" err="1"/>
              <a:t>predicted</a:t>
            </a:r>
            <a:r>
              <a:rPr lang="it-IT" dirty="0"/>
              <a:t> box </a:t>
            </a:r>
            <a:r>
              <a:rPr lang="it-IT" dirty="0" err="1"/>
              <a:t>always</a:t>
            </a:r>
            <a:r>
              <a:rPr lang="it-IT" dirty="0"/>
              <a:t> </a:t>
            </a:r>
            <a:r>
              <a:rPr lang="it-IT" dirty="0" err="1"/>
              <a:t>fits</a:t>
            </a:r>
            <a:r>
              <a:rPr lang="it-IT" dirty="0"/>
              <a:t> inside the </a:t>
            </a:r>
            <a:r>
              <a:rPr lang="it-IT" dirty="0" err="1"/>
              <a:t>obstacle</a:t>
            </a:r>
            <a:r>
              <a:rPr lang="it-IT" dirty="0"/>
              <a:t>-free </a:t>
            </a:r>
            <a:r>
              <a:rPr lang="it-IT" dirty="0" err="1"/>
              <a:t>space</a:t>
            </a:r>
            <a:r>
              <a:rPr lang="it-IT" dirty="0"/>
              <a:t>.</a:t>
            </a:r>
            <a:endParaRPr lang="it-IT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A0D4F2-E9B5-4371-A04B-94EB2A91F475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780087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 err="1"/>
              <a:t>Moving</a:t>
            </a:r>
            <a:r>
              <a:rPr lang="it-IT" dirty="0"/>
              <a:t> to the </a:t>
            </a:r>
            <a:r>
              <a:rPr lang="it-IT" dirty="0" err="1"/>
              <a:t>results</a:t>
            </a:r>
            <a:r>
              <a:rPr lang="it-IT" dirty="0"/>
              <a:t>, </a:t>
            </a:r>
            <a:r>
              <a:rPr lang="it-IT" dirty="0" err="1"/>
              <a:t>we</a:t>
            </a:r>
            <a:r>
              <a:rPr lang="it-IT" dirty="0"/>
              <a:t> first </a:t>
            </a:r>
            <a:r>
              <a:rPr lang="it-IT" dirty="0" err="1"/>
              <a:t>validated</a:t>
            </a:r>
            <a:r>
              <a:rPr lang="it-IT" dirty="0"/>
              <a:t> the </a:t>
            </a:r>
            <a:r>
              <a:rPr lang="it-IT" dirty="0" err="1"/>
              <a:t>model's</a:t>
            </a:r>
            <a:r>
              <a:rPr lang="it-IT" dirty="0"/>
              <a:t> </a:t>
            </a:r>
            <a:r>
              <a:rPr lang="it-IT" dirty="0" err="1"/>
              <a:t>safety</a:t>
            </a:r>
            <a:r>
              <a:rPr lang="it-IT" dirty="0"/>
              <a:t> </a:t>
            </a:r>
            <a:r>
              <a:rPr lang="it-IT" dirty="0" err="1"/>
              <a:t>against</a:t>
            </a:r>
            <a:r>
              <a:rPr lang="it-IT" dirty="0"/>
              <a:t> </a:t>
            </a:r>
            <a:r>
              <a:rPr lang="it-IT" dirty="0" err="1"/>
              <a:t>DeepReach</a:t>
            </a:r>
            <a:r>
              <a:rPr lang="it-IT" dirty="0"/>
              <a:t> with a common Ground Truth. The </a:t>
            </a:r>
            <a:r>
              <a:rPr lang="it-IT" dirty="0" err="1"/>
              <a:t>critical</a:t>
            </a:r>
            <a:r>
              <a:rPr lang="it-IT" dirty="0"/>
              <a:t> </a:t>
            </a:r>
            <a:r>
              <a:rPr lang="it-IT" dirty="0" err="1"/>
              <a:t>metric</a:t>
            </a:r>
            <a:r>
              <a:rPr lang="it-IT" dirty="0"/>
              <a:t> </a:t>
            </a:r>
            <a:r>
              <a:rPr lang="it-IT" dirty="0" err="1"/>
              <a:t>here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the </a:t>
            </a:r>
            <a:r>
              <a:rPr lang="it-IT" b="1" dirty="0" err="1"/>
              <a:t>Missed</a:t>
            </a:r>
            <a:r>
              <a:rPr lang="it-IT" b="1" dirty="0"/>
              <a:t> </a:t>
            </a:r>
            <a:r>
              <a:rPr lang="it-IT" b="1" dirty="0" err="1"/>
              <a:t>Alarm</a:t>
            </a:r>
            <a:r>
              <a:rPr lang="it-IT" dirty="0"/>
              <a:t> rate—</a:t>
            </a:r>
            <a:r>
              <a:rPr lang="it-IT" dirty="0" err="1"/>
              <a:t>when</a:t>
            </a:r>
            <a:r>
              <a:rPr lang="it-IT" dirty="0"/>
              <a:t> the model </a:t>
            </a:r>
            <a:r>
              <a:rPr lang="it-IT" dirty="0" err="1"/>
              <a:t>predicts</a:t>
            </a:r>
            <a:r>
              <a:rPr lang="it-IT" dirty="0"/>
              <a:t> </a:t>
            </a:r>
            <a:r>
              <a:rPr lang="it-IT" dirty="0" err="1"/>
              <a:t>safety</a:t>
            </a:r>
            <a:r>
              <a:rPr lang="it-IT" dirty="0"/>
              <a:t>, </a:t>
            </a:r>
            <a:r>
              <a:rPr lang="it-IT" dirty="0" err="1"/>
              <a:t>but</a:t>
            </a:r>
            <a:r>
              <a:rPr lang="it-IT" dirty="0"/>
              <a:t> a crash </a:t>
            </a:r>
            <a:r>
              <a:rPr lang="it-IT" dirty="0" err="1"/>
              <a:t>actually</a:t>
            </a:r>
            <a:r>
              <a:rPr lang="it-IT" dirty="0"/>
              <a:t> </a:t>
            </a:r>
            <a:r>
              <a:rPr lang="it-IT" dirty="0" err="1"/>
              <a:t>occurs</a:t>
            </a:r>
            <a:r>
              <a:rPr lang="it-IT" dirty="0"/>
              <a:t>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A0D4F2-E9B5-4371-A04B-94EB2A91F475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895709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can be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seen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the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graph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RBOC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method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(red curve) yields a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drastically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lower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missed-alarm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rate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compared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DeepReach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While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evident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the 2D case, RBOC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also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outperforms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DeepReach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models in more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complex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3D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scenarios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across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both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training setups—by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slightly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adjusting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conservativeness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parameter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beta.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A0D4F2-E9B5-4371-A04B-94EB2A91F475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803635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 err="1"/>
              <a:t>Finally</a:t>
            </a:r>
            <a:r>
              <a:rPr lang="it-IT" dirty="0"/>
              <a:t>, </a:t>
            </a:r>
            <a:r>
              <a:rPr lang="it-IT" dirty="0" err="1"/>
              <a:t>we</a:t>
            </a:r>
            <a:r>
              <a:rPr lang="it-IT" dirty="0"/>
              <a:t> </a:t>
            </a:r>
            <a:r>
              <a:rPr lang="it-IT" dirty="0" err="1"/>
              <a:t>tested</a:t>
            </a:r>
            <a:r>
              <a:rPr lang="it-IT" dirty="0"/>
              <a:t> </a:t>
            </a:r>
            <a:r>
              <a:rPr lang="it-IT" dirty="0" err="1"/>
              <a:t>continuous</a:t>
            </a:r>
            <a:r>
              <a:rPr lang="it-IT" dirty="0"/>
              <a:t> </a:t>
            </a:r>
            <a:r>
              <a:rPr lang="it-IT" dirty="0" err="1"/>
              <a:t>navigation</a:t>
            </a:r>
            <a:r>
              <a:rPr lang="it-IT" dirty="0"/>
              <a:t> tracking a target </a:t>
            </a:r>
            <a:r>
              <a:rPr lang="it-IT" dirty="0" err="1"/>
              <a:t>velocity</a:t>
            </a:r>
            <a:r>
              <a:rPr lang="it-IT" dirty="0"/>
              <a:t>. </a:t>
            </a:r>
            <a:r>
              <a:rPr lang="it-IT" dirty="0" err="1"/>
              <a:t>Again</a:t>
            </a:r>
            <a:r>
              <a:rPr lang="it-IT" dirty="0"/>
              <a:t>, RBOC-MPC </a:t>
            </a:r>
            <a:r>
              <a:rPr lang="it-IT" dirty="0" err="1"/>
              <a:t>outperformed</a:t>
            </a:r>
            <a:r>
              <a:rPr lang="it-IT" dirty="0"/>
              <a:t> the </a:t>
            </a:r>
            <a:r>
              <a:rPr lang="it-IT" dirty="0" err="1"/>
              <a:t>alternatives</a:t>
            </a:r>
            <a:r>
              <a:rPr lang="it-IT" dirty="0"/>
              <a:t>. Standard MPC </a:t>
            </a:r>
            <a:r>
              <a:rPr lang="it-IT" dirty="0" err="1"/>
              <a:t>failed</a:t>
            </a:r>
            <a:r>
              <a:rPr lang="it-IT" dirty="0"/>
              <a:t> </a:t>
            </a:r>
            <a:r>
              <a:rPr lang="it-IT" dirty="0" err="1"/>
              <a:t>frequently</a:t>
            </a:r>
            <a:r>
              <a:rPr lang="it-IT" dirty="0"/>
              <a:t>. Using an MPC with a Zero-Terminal </a:t>
            </a:r>
            <a:r>
              <a:rPr lang="it-IT" dirty="0" err="1"/>
              <a:t>Constraint</a:t>
            </a:r>
            <a:r>
              <a:rPr lang="it-IT" dirty="0"/>
              <a:t> </a:t>
            </a:r>
            <a:r>
              <a:rPr lang="it-IT" dirty="0" err="1"/>
              <a:t>avoided</a:t>
            </a:r>
            <a:r>
              <a:rPr lang="it-IT" dirty="0"/>
              <a:t> crashes </a:t>
            </a:r>
            <a:r>
              <a:rPr lang="it-IT" dirty="0" err="1"/>
              <a:t>but</a:t>
            </a:r>
            <a:r>
              <a:rPr lang="it-IT" dirty="0"/>
              <a:t> </a:t>
            </a:r>
            <a:r>
              <a:rPr lang="it-IT" dirty="0" err="1"/>
              <a:t>essentially</a:t>
            </a:r>
            <a:r>
              <a:rPr lang="it-IT" dirty="0"/>
              <a:t> </a:t>
            </a:r>
            <a:r>
              <a:rPr lang="it-IT" dirty="0" err="1"/>
              <a:t>paralyzed</a:t>
            </a:r>
            <a:r>
              <a:rPr lang="it-IT" dirty="0"/>
              <a:t> the drone, </a:t>
            </a:r>
            <a:r>
              <a:rPr lang="it-IT" dirty="0" err="1"/>
              <a:t>resulting</a:t>
            </a:r>
            <a:r>
              <a:rPr lang="it-IT" dirty="0"/>
              <a:t> in </a:t>
            </a:r>
            <a:r>
              <a:rPr lang="it-IT" dirty="0" err="1"/>
              <a:t>extremely</a:t>
            </a:r>
            <a:r>
              <a:rPr lang="it-IT" dirty="0"/>
              <a:t> low speeds. </a:t>
            </a:r>
            <a:r>
              <a:rPr lang="it-IT" dirty="0" err="1"/>
              <a:t>We</a:t>
            </a:r>
            <a:r>
              <a:rPr lang="it-IT" dirty="0"/>
              <a:t> </a:t>
            </a:r>
            <a:r>
              <a:rPr lang="it-IT" dirty="0" err="1"/>
              <a:t>also</a:t>
            </a:r>
            <a:r>
              <a:rPr lang="it-IT" dirty="0"/>
              <a:t> </a:t>
            </a:r>
            <a:r>
              <a:rPr lang="it-IT" dirty="0" err="1"/>
              <a:t>compared</a:t>
            </a:r>
            <a:r>
              <a:rPr lang="it-IT" dirty="0"/>
              <a:t> </a:t>
            </a:r>
            <a:r>
              <a:rPr lang="it-IT" dirty="0" err="1"/>
              <a:t>against</a:t>
            </a:r>
            <a:r>
              <a:rPr lang="it-IT" dirty="0"/>
              <a:t> APF. While APF </a:t>
            </a:r>
            <a:r>
              <a:rPr lang="it-IT" dirty="0" err="1"/>
              <a:t>prevents</a:t>
            </a:r>
            <a:r>
              <a:rPr lang="it-IT" dirty="0"/>
              <a:t> </a:t>
            </a:r>
            <a:r>
              <a:rPr lang="it-IT" dirty="0" err="1"/>
              <a:t>collisions</a:t>
            </a:r>
            <a:r>
              <a:rPr lang="it-IT" dirty="0"/>
              <a:t>, </a:t>
            </a:r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suffers</a:t>
            </a:r>
            <a:r>
              <a:rPr lang="it-IT" dirty="0"/>
              <a:t> from severe </a:t>
            </a:r>
            <a:r>
              <a:rPr lang="it-IT" dirty="0" err="1"/>
              <a:t>dynamic</a:t>
            </a:r>
            <a:r>
              <a:rPr lang="it-IT" dirty="0"/>
              <a:t> </a:t>
            </a:r>
            <a:r>
              <a:rPr lang="it-IT" dirty="0" err="1"/>
              <a:t>limitations</a:t>
            </a:r>
            <a:r>
              <a:rPr lang="it-IT" dirty="0"/>
              <a:t>, </a:t>
            </a:r>
            <a:r>
              <a:rPr lang="it-IT" dirty="0" err="1"/>
              <a:t>which</a:t>
            </a:r>
            <a:r>
              <a:rPr lang="it-IT" dirty="0"/>
              <a:t> are best </a:t>
            </a:r>
            <a:r>
              <a:rPr lang="it-IT" dirty="0" err="1"/>
              <a:t>seen</a:t>
            </a:r>
            <a:r>
              <a:rPr lang="it-IT" dirty="0"/>
              <a:t> in action.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A0D4F2-E9B5-4371-A04B-94EB2A91F475}" type="slidenum">
              <a:rPr lang="it-IT" smtClean="0"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068707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Here </a:t>
            </a:r>
            <a:r>
              <a:rPr lang="it-IT" dirty="0" err="1"/>
              <a:t>is</a:t>
            </a:r>
            <a:r>
              <a:rPr lang="it-IT" dirty="0"/>
              <a:t> the visual </a:t>
            </a:r>
            <a:r>
              <a:rPr lang="it-IT" dirty="0" err="1"/>
              <a:t>comparison</a:t>
            </a:r>
            <a:r>
              <a:rPr lang="it-IT" dirty="0"/>
              <a:t>. With RBOC-MPC, the drone </a:t>
            </a:r>
            <a:r>
              <a:rPr lang="it-IT" dirty="0" err="1"/>
              <a:t>flies</a:t>
            </a:r>
            <a:r>
              <a:rPr lang="it-IT" dirty="0"/>
              <a:t> </a:t>
            </a:r>
            <a:r>
              <a:rPr lang="it-IT" dirty="0" err="1"/>
              <a:t>smoothly</a:t>
            </a:r>
            <a:r>
              <a:rPr lang="it-IT" dirty="0"/>
              <a:t>. The green area </a:t>
            </a:r>
            <a:r>
              <a:rPr lang="it-IT" dirty="0" err="1"/>
              <a:t>is</a:t>
            </a:r>
            <a:r>
              <a:rPr lang="it-IT" dirty="0"/>
              <a:t> the real-time safe-box. The drone </a:t>
            </a:r>
            <a:r>
              <a:rPr lang="it-IT" dirty="0" err="1"/>
              <a:t>maintains</a:t>
            </a:r>
            <a:r>
              <a:rPr lang="it-IT" dirty="0"/>
              <a:t> </a:t>
            </a:r>
            <a:r>
              <a:rPr lang="it-IT" dirty="0" err="1"/>
              <a:t>its</a:t>
            </a:r>
            <a:r>
              <a:rPr lang="it-IT" dirty="0"/>
              <a:t> speed and </a:t>
            </a:r>
            <a:r>
              <a:rPr lang="it-IT" dirty="0" err="1"/>
              <a:t>brakes</a:t>
            </a:r>
            <a:r>
              <a:rPr lang="it-IT" dirty="0"/>
              <a:t> </a:t>
            </a:r>
            <a:r>
              <a:rPr lang="it-IT" dirty="0" err="1"/>
              <a:t>efficiently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</a:t>
            </a:r>
            <a:r>
              <a:rPr lang="it-IT" dirty="0" err="1"/>
              <a:t>when</a:t>
            </a:r>
            <a:r>
              <a:rPr lang="it-IT" dirty="0"/>
              <a:t> </a:t>
            </a:r>
            <a:r>
              <a:rPr lang="it-IT" dirty="0" err="1"/>
              <a:t>necessary</a:t>
            </a:r>
            <a:r>
              <a:rPr lang="it-IT" dirty="0"/>
              <a:t>.</a:t>
            </a:r>
          </a:p>
          <a:p>
            <a:endParaRPr lang="it-IT" dirty="0"/>
          </a:p>
          <a:p>
            <a:r>
              <a:rPr lang="it-IT" dirty="0"/>
              <a:t>With APF,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see</a:t>
            </a:r>
            <a:r>
              <a:rPr lang="it-IT" dirty="0"/>
              <a:t> the </a:t>
            </a:r>
            <a:r>
              <a:rPr lang="it-IT" dirty="0" err="1"/>
              <a:t>attractive</a:t>
            </a:r>
            <a:r>
              <a:rPr lang="it-IT" dirty="0"/>
              <a:t> and repulsive </a:t>
            </a:r>
            <a:r>
              <a:rPr lang="it-IT" dirty="0" err="1"/>
              <a:t>forces</a:t>
            </a:r>
            <a:r>
              <a:rPr lang="it-IT" dirty="0"/>
              <a:t>. The drone </a:t>
            </a:r>
            <a:r>
              <a:rPr lang="it-IT" dirty="0" err="1"/>
              <a:t>bounces</a:t>
            </a:r>
            <a:r>
              <a:rPr lang="it-IT" dirty="0"/>
              <a:t> </a:t>
            </a:r>
            <a:r>
              <a:rPr lang="it-IT" dirty="0" err="1"/>
              <a:t>erratically</a:t>
            </a:r>
            <a:r>
              <a:rPr lang="it-IT" dirty="0"/>
              <a:t> </a:t>
            </a:r>
            <a:r>
              <a:rPr lang="it-IT" dirty="0" err="1"/>
              <a:t>between</a:t>
            </a:r>
            <a:r>
              <a:rPr lang="it-IT" dirty="0"/>
              <a:t> </a:t>
            </a:r>
            <a:r>
              <a:rPr lang="it-IT" dirty="0" err="1"/>
              <a:t>obstacles</a:t>
            </a:r>
            <a:r>
              <a:rPr lang="it-IT" dirty="0"/>
              <a:t> </a:t>
            </a:r>
            <a:r>
              <a:rPr lang="it-IT" dirty="0" err="1"/>
              <a:t>because</a:t>
            </a:r>
            <a:r>
              <a:rPr lang="it-IT" dirty="0"/>
              <a:t> the tuning gains are user-</a:t>
            </a:r>
            <a:r>
              <a:rPr lang="it-IT" dirty="0" err="1"/>
              <a:t>defined</a:t>
            </a:r>
            <a:r>
              <a:rPr lang="it-IT" dirty="0"/>
              <a:t> and </a:t>
            </a:r>
            <a:r>
              <a:rPr lang="it-IT" dirty="0" err="1"/>
              <a:t>highly</a:t>
            </a:r>
            <a:r>
              <a:rPr lang="it-IT" dirty="0"/>
              <a:t> </a:t>
            </a:r>
            <a:r>
              <a:rPr lang="it-IT" dirty="0" err="1"/>
              <a:t>environment-dependent</a:t>
            </a:r>
            <a:r>
              <a:rPr lang="it-IT" dirty="0"/>
              <a:t>. </a:t>
            </a:r>
            <a:r>
              <a:rPr lang="it-IT" dirty="0" err="1"/>
              <a:t>Furthermore</a:t>
            </a:r>
            <a:r>
              <a:rPr lang="it-IT" dirty="0"/>
              <a:t>, </a:t>
            </a:r>
            <a:r>
              <a:rPr lang="it-IT" b="0" dirty="0"/>
              <a:t>APF </a:t>
            </a:r>
            <a:r>
              <a:rPr lang="it-IT" b="0" dirty="0" err="1"/>
              <a:t>oversimplifies</a:t>
            </a:r>
            <a:r>
              <a:rPr lang="it-IT" b="0" dirty="0"/>
              <a:t> the UAV by </a:t>
            </a:r>
            <a:r>
              <a:rPr lang="it-IT" b="0" dirty="0" err="1"/>
              <a:t>modeling</a:t>
            </a:r>
            <a:r>
              <a:rPr lang="it-IT" b="0" dirty="0"/>
              <a:t> </a:t>
            </a:r>
            <a:r>
              <a:rPr lang="it-IT" b="0" dirty="0" err="1"/>
              <a:t>it</a:t>
            </a:r>
            <a:r>
              <a:rPr lang="it-IT" b="0" dirty="0"/>
              <a:t> </a:t>
            </a:r>
            <a:r>
              <a:rPr lang="it-IT" b="0" dirty="0" err="1"/>
              <a:t>merely</a:t>
            </a:r>
            <a:r>
              <a:rPr lang="it-IT" b="0" dirty="0"/>
              <a:t> </a:t>
            </a:r>
            <a:r>
              <a:rPr lang="it-IT" b="0" dirty="0" err="1"/>
              <a:t>as</a:t>
            </a:r>
            <a:r>
              <a:rPr lang="it-IT" b="0" dirty="0"/>
              <a:t> a point mass</a:t>
            </a:r>
            <a:r>
              <a:rPr lang="it-IT" dirty="0"/>
              <a:t>. </a:t>
            </a:r>
            <a:r>
              <a:rPr lang="it-IT" dirty="0" err="1"/>
              <a:t>Adapting</a:t>
            </a:r>
            <a:r>
              <a:rPr lang="it-IT" dirty="0"/>
              <a:t> </a:t>
            </a:r>
            <a:r>
              <a:rPr lang="it-IT" dirty="0" err="1"/>
              <a:t>this</a:t>
            </a:r>
            <a:r>
              <a:rPr lang="it-IT" dirty="0"/>
              <a:t> to the </a:t>
            </a:r>
            <a:r>
              <a:rPr lang="it-IT" dirty="0" err="1"/>
              <a:t>complex</a:t>
            </a:r>
            <a:r>
              <a:rPr lang="it-IT" dirty="0"/>
              <a:t> dynamics of a </a:t>
            </a:r>
            <a:r>
              <a:rPr lang="it-IT" dirty="0" err="1"/>
              <a:t>real</a:t>
            </a:r>
            <a:r>
              <a:rPr lang="it-IT" dirty="0"/>
              <a:t> </a:t>
            </a:r>
            <a:r>
              <a:rPr lang="it-IT" dirty="0" err="1"/>
              <a:t>quadcopter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difficult</a:t>
            </a:r>
            <a:r>
              <a:rPr lang="it-IT" dirty="0"/>
              <a:t> and leads to </a:t>
            </a:r>
            <a:r>
              <a:rPr lang="it-IT" dirty="0" err="1"/>
              <a:t>idealized</a:t>
            </a:r>
            <a:r>
              <a:rPr lang="it-IT" dirty="0"/>
              <a:t> </a:t>
            </a:r>
            <a:r>
              <a:rPr lang="it-IT" dirty="0" err="1"/>
              <a:t>behavior</a:t>
            </a:r>
            <a:r>
              <a:rPr lang="it-IT" dirty="0"/>
              <a:t>. </a:t>
            </a:r>
            <a:r>
              <a:rPr lang="it-IT" dirty="0" err="1"/>
              <a:t>Finally</a:t>
            </a:r>
            <a:r>
              <a:rPr lang="it-IT" dirty="0"/>
              <a:t>, </a:t>
            </a:r>
            <a:r>
              <a:rPr lang="it-IT" dirty="0" err="1"/>
              <a:t>when</a:t>
            </a:r>
            <a:r>
              <a:rPr lang="it-IT" dirty="0"/>
              <a:t> </a:t>
            </a:r>
            <a:r>
              <a:rPr lang="it-IT" dirty="0" err="1"/>
              <a:t>opposing</a:t>
            </a:r>
            <a:r>
              <a:rPr lang="it-IT" dirty="0"/>
              <a:t> </a:t>
            </a:r>
            <a:r>
              <a:rPr lang="it-IT" dirty="0" err="1"/>
              <a:t>forces</a:t>
            </a:r>
            <a:r>
              <a:rPr lang="it-IT" dirty="0"/>
              <a:t> </a:t>
            </a:r>
            <a:r>
              <a:rPr lang="it-IT" dirty="0" err="1"/>
              <a:t>cancel</a:t>
            </a:r>
            <a:r>
              <a:rPr lang="it-IT" dirty="0"/>
              <a:t> </a:t>
            </a:r>
            <a:r>
              <a:rPr lang="it-IT" dirty="0" err="1"/>
              <a:t>each</a:t>
            </a:r>
            <a:r>
              <a:rPr lang="it-IT" dirty="0"/>
              <a:t> </a:t>
            </a:r>
            <a:r>
              <a:rPr lang="it-IT" dirty="0" err="1"/>
              <a:t>other</a:t>
            </a:r>
            <a:r>
              <a:rPr lang="it-IT" dirty="0"/>
              <a:t> out, APF </a:t>
            </a:r>
            <a:r>
              <a:rPr lang="it-IT" dirty="0" err="1"/>
              <a:t>suffers</a:t>
            </a:r>
            <a:r>
              <a:rPr lang="it-IT" dirty="0"/>
              <a:t> from </a:t>
            </a:r>
            <a:r>
              <a:rPr lang="it-IT" dirty="0" err="1"/>
              <a:t>critical</a:t>
            </a:r>
            <a:r>
              <a:rPr lang="it-IT" dirty="0"/>
              <a:t> </a:t>
            </a:r>
            <a:r>
              <a:rPr lang="it-IT" dirty="0" err="1"/>
              <a:t>stalling</a:t>
            </a:r>
            <a:r>
              <a:rPr lang="it-IT" dirty="0"/>
              <a:t>, or deadlocks. RBOC </a:t>
            </a:r>
            <a:r>
              <a:rPr lang="it-IT" dirty="0" err="1"/>
              <a:t>completely</a:t>
            </a:r>
            <a:r>
              <a:rPr lang="it-IT" dirty="0"/>
              <a:t> </a:t>
            </a:r>
            <a:r>
              <a:rPr lang="it-IT" dirty="0" err="1"/>
              <a:t>avoids</a:t>
            </a:r>
            <a:r>
              <a:rPr lang="it-IT" dirty="0"/>
              <a:t> </a:t>
            </a:r>
            <a:r>
              <a:rPr lang="it-IT" dirty="0" err="1"/>
              <a:t>these</a:t>
            </a:r>
            <a:r>
              <a:rPr lang="it-IT" dirty="0"/>
              <a:t> </a:t>
            </a:r>
            <a:r>
              <a:rPr lang="it-IT" dirty="0" err="1"/>
              <a:t>issues</a:t>
            </a:r>
            <a:r>
              <a:rPr lang="it-IT" dirty="0"/>
              <a:t>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A0D4F2-E9B5-4371-A04B-94EB2A91F475}" type="slidenum">
              <a:rPr lang="it-IT" smtClean="0"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362468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To conclude, the RBOC-MPC framework </a:t>
            </a:r>
            <a:r>
              <a:rPr lang="it-IT" dirty="0" err="1"/>
              <a:t>successfully</a:t>
            </a:r>
            <a:r>
              <a:rPr lang="it-IT" dirty="0"/>
              <a:t> </a:t>
            </a:r>
            <a:r>
              <a:rPr lang="it-IT" dirty="0" err="1"/>
              <a:t>guarantees</a:t>
            </a:r>
            <a:r>
              <a:rPr lang="it-IT" dirty="0"/>
              <a:t> </a:t>
            </a:r>
            <a:r>
              <a:rPr lang="it-IT" dirty="0" err="1"/>
              <a:t>mathematical</a:t>
            </a:r>
            <a:r>
              <a:rPr lang="it-IT" dirty="0"/>
              <a:t> </a:t>
            </a:r>
            <a:r>
              <a:rPr lang="it-IT" dirty="0" err="1"/>
              <a:t>safety</a:t>
            </a:r>
            <a:r>
              <a:rPr lang="it-IT" dirty="0"/>
              <a:t> for </a:t>
            </a:r>
            <a:r>
              <a:rPr lang="it-IT" dirty="0" err="1"/>
              <a:t>underactuated</a:t>
            </a:r>
            <a:r>
              <a:rPr lang="it-IT" dirty="0"/>
              <a:t> UAVs, </a:t>
            </a:r>
            <a:r>
              <a:rPr lang="en-US" dirty="0"/>
              <a:t>surpassing the performance of other state-of-the-art methods</a:t>
            </a:r>
            <a:r>
              <a:rPr lang="it-IT" dirty="0"/>
              <a:t>. Future </a:t>
            </a:r>
            <a:r>
              <a:rPr lang="it-IT" dirty="0" err="1"/>
              <a:t>developments</a:t>
            </a:r>
            <a:r>
              <a:rPr lang="it-IT" dirty="0"/>
              <a:t> </a:t>
            </a:r>
            <a:r>
              <a:rPr lang="it-IT" dirty="0" err="1"/>
              <a:t>will</a:t>
            </a:r>
            <a:r>
              <a:rPr lang="it-IT" dirty="0"/>
              <a:t> focus on </a:t>
            </a:r>
            <a:r>
              <a:rPr lang="it-IT" dirty="0" err="1"/>
              <a:t>integrating</a:t>
            </a:r>
            <a:r>
              <a:rPr lang="it-IT" dirty="0"/>
              <a:t> a Global Path Planner to resolve some </a:t>
            </a:r>
            <a:r>
              <a:rPr lang="it-IT" dirty="0" err="1"/>
              <a:t>trajectory</a:t>
            </a:r>
            <a:r>
              <a:rPr lang="it-IT" dirty="0"/>
              <a:t> planning </a:t>
            </a:r>
            <a:r>
              <a:rPr lang="it-IT" dirty="0" err="1"/>
              <a:t>limitations</a:t>
            </a:r>
            <a:r>
              <a:rPr lang="it-IT" dirty="0"/>
              <a:t>, </a:t>
            </a:r>
            <a:r>
              <a:rPr lang="it-IT" dirty="0" err="1"/>
              <a:t>extending</a:t>
            </a:r>
            <a:r>
              <a:rPr lang="it-IT" dirty="0"/>
              <a:t> the safe-box to </a:t>
            </a:r>
            <a:r>
              <a:rPr lang="it-IT" dirty="0" err="1"/>
              <a:t>complex</a:t>
            </a:r>
            <a:r>
              <a:rPr lang="it-IT" dirty="0"/>
              <a:t> </a:t>
            </a:r>
            <a:r>
              <a:rPr lang="it-IT" dirty="0" err="1"/>
              <a:t>convex</a:t>
            </a:r>
            <a:r>
              <a:rPr lang="it-IT" dirty="0"/>
              <a:t> </a:t>
            </a:r>
            <a:r>
              <a:rPr lang="it-IT" dirty="0" err="1"/>
              <a:t>geometries</a:t>
            </a:r>
            <a:r>
              <a:rPr lang="it-IT" dirty="0"/>
              <a:t> </a:t>
            </a:r>
            <a:r>
              <a:rPr lang="en-US" dirty="0"/>
              <a:t>to obtain a more realistic perception of the environment</a:t>
            </a:r>
            <a:r>
              <a:rPr lang="it-IT" dirty="0"/>
              <a:t>, and </a:t>
            </a:r>
            <a:r>
              <a:rPr lang="it-IT" dirty="0" err="1"/>
              <a:t>above</a:t>
            </a:r>
            <a:r>
              <a:rPr lang="it-IT" dirty="0"/>
              <a:t> </a:t>
            </a:r>
            <a:r>
              <a:rPr lang="it-IT" dirty="0" err="1"/>
              <a:t>all</a:t>
            </a:r>
            <a:r>
              <a:rPr lang="it-IT" dirty="0"/>
              <a:t> </a:t>
            </a:r>
            <a:r>
              <a:rPr lang="it-IT" dirty="0" err="1"/>
              <a:t>validating</a:t>
            </a:r>
            <a:r>
              <a:rPr lang="it-IT" dirty="0"/>
              <a:t> the framework on </a:t>
            </a:r>
            <a:r>
              <a:rPr lang="it-IT" dirty="0" err="1"/>
              <a:t>physical</a:t>
            </a:r>
            <a:r>
              <a:rPr lang="it-IT" dirty="0"/>
              <a:t> drone hardware.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A0D4F2-E9B5-4371-A04B-94EB2A91F475}" type="slidenum">
              <a:rPr lang="it-IT" smtClean="0"/>
              <a:t>11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671911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A0D4F2-E9B5-4371-A04B-94EB2A91F475}" type="slidenum">
              <a:rPr lang="it-IT" smtClean="0"/>
              <a:t>12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22341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customXml" Target="../ink/ink4.xml"/><Relationship Id="rId3" Type="http://schemas.openxmlformats.org/officeDocument/2006/relationships/image" Target="../media/image2.svg"/><Relationship Id="rId21" Type="http://schemas.openxmlformats.org/officeDocument/2006/relationships/image" Target="../media/image16.png"/><Relationship Id="rId7" Type="http://schemas.openxmlformats.org/officeDocument/2006/relationships/customXml" Target="../ink/ink1.xml"/><Relationship Id="rId1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6" Type="http://schemas.openxmlformats.org/officeDocument/2006/relationships/customXml" Target="../ink/ink3.xml"/><Relationship Id="rId20" Type="http://schemas.openxmlformats.org/officeDocument/2006/relationships/customXml" Target="../ink/ink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15" Type="http://schemas.openxmlformats.org/officeDocument/2006/relationships/image" Target="../media/image13.png"/><Relationship Id="rId19" Type="http://schemas.openxmlformats.org/officeDocument/2006/relationships/image" Target="../media/image15.png"/><Relationship Id="rId4" Type="http://schemas.openxmlformats.org/officeDocument/2006/relationships/image" Target="../media/image6.svg"/><Relationship Id="rId14" Type="http://schemas.openxmlformats.org/officeDocument/2006/relationships/customXml" Target="../ink/ink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customXml" Target="../ink/ink11.xml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12" Type="http://schemas.openxmlformats.org/officeDocument/2006/relationships/customXml" Target="../ink/ink10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7.xml"/><Relationship Id="rId11" Type="http://schemas.openxmlformats.org/officeDocument/2006/relationships/customXml" Target="../ink/ink9.xml"/><Relationship Id="rId5" Type="http://schemas.openxmlformats.org/officeDocument/2006/relationships/image" Target="../media/image10.png"/><Relationship Id="rId10" Type="http://schemas.openxmlformats.org/officeDocument/2006/relationships/image" Target="../media/image17.png"/><Relationship Id="rId4" Type="http://schemas.openxmlformats.org/officeDocument/2006/relationships/customXml" Target="../ink/ink6.xml"/><Relationship Id="rId9" Type="http://schemas.openxmlformats.org/officeDocument/2006/relationships/customXml" Target="../ink/ink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jpeg"/><Relationship Id="rId3" Type="http://schemas.microsoft.com/office/2007/relationships/media" Target="../media/media2.mp4"/><Relationship Id="rId7" Type="http://schemas.openxmlformats.org/officeDocument/2006/relationships/image" Target="../media/image29.jpe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7.xml"/><Relationship Id="rId4" Type="http://schemas.openxmlformats.org/officeDocument/2006/relationships/video" Target="../media/media2.mp4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png"/><Relationship Id="rId4" Type="http://schemas.openxmlformats.org/officeDocument/2006/relationships/image" Target="../media/image2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microsoft.com/office/2007/relationships/media" Target="../media/media3.mp4"/><Relationship Id="rId1" Type="http://schemas.openxmlformats.org/officeDocument/2006/relationships/video" Target="NULL" TargetMode="External"/><Relationship Id="rId5" Type="http://schemas.openxmlformats.org/officeDocument/2006/relationships/image" Target="../media/image33.png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565656">
                <a:alpha val="100000"/>
              </a:srgbClr>
            </a:gs>
            <a:gs pos="50000">
              <a:srgbClr val="575757">
                <a:alpha val="0"/>
              </a:srgbClr>
            </a:gs>
            <a:gs pos="100000">
              <a:srgbClr val="8C0808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397359" y="814554"/>
            <a:ext cx="12708710" cy="12708710"/>
          </a:xfrm>
          <a:custGeom>
            <a:avLst/>
            <a:gdLst/>
            <a:ahLst/>
            <a:cxnLst/>
            <a:rect l="l" t="t" r="r" b="b"/>
            <a:pathLst>
              <a:path w="12708710" h="12708710">
                <a:moveTo>
                  <a:pt x="0" y="0"/>
                </a:moveTo>
                <a:lnTo>
                  <a:pt x="12708710" y="0"/>
                </a:lnTo>
                <a:lnTo>
                  <a:pt x="12708710" y="12708710"/>
                </a:lnTo>
                <a:lnTo>
                  <a:pt x="0" y="127087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8999"/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TextBox 3"/>
          <p:cNvSpPr txBox="1"/>
          <p:nvPr/>
        </p:nvSpPr>
        <p:spPr>
          <a:xfrm>
            <a:off x="3214340" y="2838395"/>
            <a:ext cx="11859320" cy="15855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000000"/>
                </a:solidFill>
                <a:latin typeface="Bicubik"/>
                <a:ea typeface="Bicubik"/>
                <a:cs typeface="Bicubik"/>
                <a:sym typeface="Bicubik"/>
              </a:rPr>
              <a:t>Master’s Thesis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214340" y="4328739"/>
            <a:ext cx="11859320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Mechatronics Engineering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892127" y="6333309"/>
            <a:ext cx="12503746" cy="1206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sz="34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Presented by Gava Claudia</a:t>
            </a:r>
          </a:p>
          <a:p>
            <a:pPr algn="ctr">
              <a:lnSpc>
                <a:spcPts val="4899"/>
              </a:lnSpc>
            </a:pPr>
            <a:r>
              <a:rPr lang="en-US" sz="34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with supervision of Andrea Del Prete and Elias Fontanari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4551136"/>
            <a:ext cx="18288000" cy="5735864"/>
            <a:chOff x="0" y="0"/>
            <a:chExt cx="3310423" cy="103828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310423" cy="1038284"/>
            </a:xfrm>
            <a:custGeom>
              <a:avLst/>
              <a:gdLst/>
              <a:ahLst/>
              <a:cxnLst/>
              <a:rect l="l" t="t" r="r" b="b"/>
              <a:pathLst>
                <a:path w="3310423" h="1038284">
                  <a:moveTo>
                    <a:pt x="0" y="0"/>
                  </a:moveTo>
                  <a:lnTo>
                    <a:pt x="3310423" y="0"/>
                  </a:lnTo>
                  <a:lnTo>
                    <a:pt x="3310423" y="1038284"/>
                  </a:lnTo>
                  <a:lnTo>
                    <a:pt x="0" y="1038284"/>
                  </a:lnTo>
                  <a:close/>
                </a:path>
              </a:pathLst>
            </a:custGeom>
            <a:gradFill rotWithShape="1">
              <a:gsLst>
                <a:gs pos="0">
                  <a:srgbClr val="565656">
                    <a:alpha val="100000"/>
                  </a:srgbClr>
                </a:gs>
                <a:gs pos="100000">
                  <a:srgbClr val="575757">
                    <a:alpha val="0"/>
                  </a:srgbClr>
                </a:gs>
              </a:gsLst>
              <a:lin ang="0"/>
            </a:gradFill>
            <a:ln w="9525" cap="sq">
              <a:gradFill>
                <a:gsLst>
                  <a:gs pos="0">
                    <a:srgbClr val="565656">
                      <a:alpha val="100000"/>
                    </a:srgbClr>
                  </a:gs>
                  <a:gs pos="100000">
                    <a:srgbClr val="575757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310423" cy="10763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10800000">
            <a:off x="6348708" y="2232700"/>
            <a:ext cx="5488318" cy="1197278"/>
            <a:chOff x="0" y="0"/>
            <a:chExt cx="1129283" cy="24635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29283" cy="246353"/>
            </a:xfrm>
            <a:custGeom>
              <a:avLst/>
              <a:gdLst/>
              <a:ahLst/>
              <a:cxnLst/>
              <a:rect l="l" t="t" r="r" b="b"/>
              <a:pathLst>
                <a:path w="1129283" h="246353">
                  <a:moveTo>
                    <a:pt x="0" y="0"/>
                  </a:moveTo>
                  <a:lnTo>
                    <a:pt x="1129283" y="0"/>
                  </a:lnTo>
                  <a:lnTo>
                    <a:pt x="1129283" y="246353"/>
                  </a:lnTo>
                  <a:lnTo>
                    <a:pt x="0" y="246353"/>
                  </a:lnTo>
                  <a:close/>
                </a:path>
              </a:pathLst>
            </a:custGeom>
            <a:gradFill rotWithShape="1">
              <a:gsLst>
                <a:gs pos="0">
                  <a:srgbClr val="565656">
                    <a:alpha val="50000"/>
                  </a:srgbClr>
                </a:gs>
                <a:gs pos="100000">
                  <a:srgbClr val="575757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it-IT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129283" cy="2844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rot="-10800000" flipH="1" flipV="1">
            <a:off x="16297574" y="1028700"/>
            <a:ext cx="961726" cy="614342"/>
          </a:xfrm>
          <a:custGeom>
            <a:avLst/>
            <a:gdLst/>
            <a:ahLst/>
            <a:cxnLst/>
            <a:rect l="l" t="t" r="r" b="b"/>
            <a:pathLst>
              <a:path w="961726" h="614342">
                <a:moveTo>
                  <a:pt x="961726" y="614342"/>
                </a:moveTo>
                <a:lnTo>
                  <a:pt x="0" y="614342"/>
                </a:lnTo>
                <a:lnTo>
                  <a:pt x="0" y="0"/>
                </a:lnTo>
                <a:lnTo>
                  <a:pt x="961726" y="0"/>
                </a:lnTo>
                <a:lnTo>
                  <a:pt x="961726" y="61434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66651" b="-42775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9" name="Freeform 9"/>
          <p:cNvSpPr/>
          <p:nvPr/>
        </p:nvSpPr>
        <p:spPr>
          <a:xfrm rot="-10800000" flipH="1" flipV="1">
            <a:off x="1614245" y="3122808"/>
            <a:ext cx="1677920" cy="1071840"/>
          </a:xfrm>
          <a:custGeom>
            <a:avLst/>
            <a:gdLst/>
            <a:ahLst/>
            <a:cxnLst/>
            <a:rect l="l" t="t" r="r" b="b"/>
            <a:pathLst>
              <a:path w="1677920" h="1071840">
                <a:moveTo>
                  <a:pt x="1677921" y="1071840"/>
                </a:moveTo>
                <a:lnTo>
                  <a:pt x="0" y="1071840"/>
                </a:lnTo>
                <a:lnTo>
                  <a:pt x="0" y="0"/>
                </a:lnTo>
                <a:lnTo>
                  <a:pt x="1677921" y="0"/>
                </a:lnTo>
                <a:lnTo>
                  <a:pt x="1677921" y="107184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66651" b="-42775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0" name="Freeform 10"/>
          <p:cNvSpPr/>
          <p:nvPr/>
        </p:nvSpPr>
        <p:spPr>
          <a:xfrm rot="-10800000" flipH="1" flipV="1">
            <a:off x="4332683" y="7376990"/>
            <a:ext cx="1258952" cy="804207"/>
          </a:xfrm>
          <a:custGeom>
            <a:avLst/>
            <a:gdLst/>
            <a:ahLst/>
            <a:cxnLst/>
            <a:rect l="l" t="t" r="r" b="b"/>
            <a:pathLst>
              <a:path w="1258952" h="804207">
                <a:moveTo>
                  <a:pt x="1258952" y="804207"/>
                </a:moveTo>
                <a:lnTo>
                  <a:pt x="0" y="804207"/>
                </a:lnTo>
                <a:lnTo>
                  <a:pt x="0" y="0"/>
                </a:lnTo>
                <a:lnTo>
                  <a:pt x="1258952" y="0"/>
                </a:lnTo>
                <a:lnTo>
                  <a:pt x="1258952" y="804207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66651" b="-42775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1" name="Freeform 11"/>
          <p:cNvSpPr/>
          <p:nvPr/>
        </p:nvSpPr>
        <p:spPr>
          <a:xfrm rot="-10800000" flipH="1" flipV="1">
            <a:off x="2853085" y="6554920"/>
            <a:ext cx="1721374" cy="1099598"/>
          </a:xfrm>
          <a:custGeom>
            <a:avLst/>
            <a:gdLst/>
            <a:ahLst/>
            <a:cxnLst/>
            <a:rect l="l" t="t" r="r" b="b"/>
            <a:pathLst>
              <a:path w="1721374" h="1099598">
                <a:moveTo>
                  <a:pt x="1721373" y="1099597"/>
                </a:moveTo>
                <a:lnTo>
                  <a:pt x="0" y="1099597"/>
                </a:lnTo>
                <a:lnTo>
                  <a:pt x="0" y="0"/>
                </a:lnTo>
                <a:lnTo>
                  <a:pt x="1721373" y="0"/>
                </a:lnTo>
                <a:lnTo>
                  <a:pt x="1721373" y="1099597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66651" b="-42775"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12" name="Group 12"/>
          <p:cNvGrpSpPr/>
          <p:nvPr/>
        </p:nvGrpSpPr>
        <p:grpSpPr>
          <a:xfrm>
            <a:off x="0" y="45627"/>
            <a:ext cx="18288000" cy="10241373"/>
            <a:chOff x="0" y="0"/>
            <a:chExt cx="1381544" cy="77367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381544" cy="773671"/>
            </a:xfrm>
            <a:custGeom>
              <a:avLst/>
              <a:gdLst/>
              <a:ahLst/>
              <a:cxnLst/>
              <a:rect l="l" t="t" r="r" b="b"/>
              <a:pathLst>
                <a:path w="1381544" h="773671">
                  <a:moveTo>
                    <a:pt x="0" y="0"/>
                  </a:moveTo>
                  <a:lnTo>
                    <a:pt x="1381544" y="0"/>
                  </a:lnTo>
                  <a:lnTo>
                    <a:pt x="1381544" y="773671"/>
                  </a:lnTo>
                  <a:lnTo>
                    <a:pt x="0" y="773671"/>
                  </a:lnTo>
                  <a:close/>
                </a:path>
              </a:pathLst>
            </a:custGeom>
            <a:blipFill>
              <a:blip r:embed="rId4">
                <a:alphaModFix amt="62000"/>
              </a:blip>
              <a:stretch>
                <a:fillRect t="-35155" b="-35155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028700" y="1236558"/>
            <a:ext cx="16523217" cy="2958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634"/>
              </a:lnSpc>
            </a:pPr>
            <a:r>
              <a:rPr lang="en-US" sz="7042">
                <a:solidFill>
                  <a:srgbClr val="201F1F"/>
                </a:solidFill>
                <a:latin typeface="Bicubik"/>
                <a:ea typeface="Bicubik"/>
                <a:cs typeface="Bicubik"/>
                <a:sym typeface="Bicubik"/>
              </a:rPr>
              <a:t>SAFE LIDAR-BASED NAVIGATION OF UNKNOWN ENVIRONMENTS WITH MODEL PREDICTIVE CONTROL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2237248"/>
            <a:ext cx="12695388" cy="8049752"/>
            <a:chOff x="0" y="0"/>
            <a:chExt cx="2063785" cy="130858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63785" cy="1308582"/>
            </a:xfrm>
            <a:custGeom>
              <a:avLst/>
              <a:gdLst/>
              <a:ahLst/>
              <a:cxnLst/>
              <a:rect l="l" t="t" r="r" b="b"/>
              <a:pathLst>
                <a:path w="2063785" h="1308582">
                  <a:moveTo>
                    <a:pt x="0" y="0"/>
                  </a:moveTo>
                  <a:lnTo>
                    <a:pt x="2063785" y="0"/>
                  </a:lnTo>
                  <a:lnTo>
                    <a:pt x="2063785" y="1308582"/>
                  </a:lnTo>
                  <a:lnTo>
                    <a:pt x="0" y="1308582"/>
                  </a:lnTo>
                  <a:close/>
                </a:path>
              </a:pathLst>
            </a:custGeom>
            <a:gradFill rotWithShape="1">
              <a:gsLst>
                <a:gs pos="0">
                  <a:srgbClr val="565656">
                    <a:alpha val="100000"/>
                  </a:srgbClr>
                </a:gs>
                <a:gs pos="100000">
                  <a:srgbClr val="575757">
                    <a:alpha val="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9525" cap="sq">
              <a:gradFill>
                <a:gsLst>
                  <a:gs pos="0">
                    <a:srgbClr val="565656">
                      <a:alpha val="100000"/>
                    </a:srgbClr>
                  </a:gs>
                  <a:gs pos="100000">
                    <a:srgbClr val="575757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063785" cy="13466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5400000">
            <a:off x="-786981" y="3485381"/>
            <a:ext cx="7225569" cy="4729304"/>
            <a:chOff x="0" y="0"/>
            <a:chExt cx="548765" cy="35918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48765" cy="359180"/>
            </a:xfrm>
            <a:custGeom>
              <a:avLst/>
              <a:gdLst/>
              <a:ahLst/>
              <a:cxnLst/>
              <a:rect l="l" t="t" r="r" b="b"/>
              <a:pathLst>
                <a:path w="548765" h="359180">
                  <a:moveTo>
                    <a:pt x="0" y="0"/>
                  </a:moveTo>
                  <a:lnTo>
                    <a:pt x="548765" y="0"/>
                  </a:lnTo>
                  <a:lnTo>
                    <a:pt x="548765" y="359180"/>
                  </a:lnTo>
                  <a:lnTo>
                    <a:pt x="0" y="359180"/>
                  </a:lnTo>
                  <a:close/>
                </a:path>
              </a:pathLst>
            </a:custGeom>
            <a:gradFill rotWithShape="1">
              <a:gsLst>
                <a:gs pos="0">
                  <a:srgbClr val="565656">
                    <a:alpha val="50000"/>
                  </a:srgbClr>
                </a:gs>
                <a:gs pos="100000">
                  <a:srgbClr val="575757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it-IT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48765" cy="3972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rot="-10800000" flipH="1" flipV="1">
            <a:off x="15338564" y="8462422"/>
            <a:ext cx="961726" cy="614342"/>
          </a:xfrm>
          <a:custGeom>
            <a:avLst/>
            <a:gdLst/>
            <a:ahLst/>
            <a:cxnLst/>
            <a:rect l="l" t="t" r="r" b="b"/>
            <a:pathLst>
              <a:path w="961726" h="614342">
                <a:moveTo>
                  <a:pt x="961726" y="614342"/>
                </a:moveTo>
                <a:lnTo>
                  <a:pt x="0" y="614342"/>
                </a:lnTo>
                <a:lnTo>
                  <a:pt x="0" y="0"/>
                </a:lnTo>
                <a:lnTo>
                  <a:pt x="961726" y="0"/>
                </a:lnTo>
                <a:lnTo>
                  <a:pt x="961726" y="61434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66651" b="-42775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9" name="Freeform 9"/>
          <p:cNvSpPr/>
          <p:nvPr/>
        </p:nvSpPr>
        <p:spPr>
          <a:xfrm rot="-10800000" flipH="1" flipV="1">
            <a:off x="10683231" y="2800036"/>
            <a:ext cx="2888402" cy="1845084"/>
          </a:xfrm>
          <a:custGeom>
            <a:avLst/>
            <a:gdLst/>
            <a:ahLst/>
            <a:cxnLst/>
            <a:rect l="l" t="t" r="r" b="b"/>
            <a:pathLst>
              <a:path w="2888402" h="1845084">
                <a:moveTo>
                  <a:pt x="2888401" y="1845084"/>
                </a:moveTo>
                <a:lnTo>
                  <a:pt x="0" y="1845084"/>
                </a:lnTo>
                <a:lnTo>
                  <a:pt x="0" y="0"/>
                </a:lnTo>
                <a:lnTo>
                  <a:pt x="2888401" y="0"/>
                </a:lnTo>
                <a:lnTo>
                  <a:pt x="2888401" y="184508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66651" b="-42775"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10" name="Group 10"/>
          <p:cNvGrpSpPr/>
          <p:nvPr/>
        </p:nvGrpSpPr>
        <p:grpSpPr>
          <a:xfrm>
            <a:off x="12542257" y="-14374"/>
            <a:ext cx="5745743" cy="6772554"/>
            <a:chOff x="0" y="0"/>
            <a:chExt cx="716827" cy="84493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716827" cy="844930"/>
            </a:xfrm>
            <a:custGeom>
              <a:avLst/>
              <a:gdLst/>
              <a:ahLst/>
              <a:cxnLst/>
              <a:rect l="l" t="t" r="r" b="b"/>
              <a:pathLst>
                <a:path w="716827" h="844930">
                  <a:moveTo>
                    <a:pt x="0" y="0"/>
                  </a:moveTo>
                  <a:lnTo>
                    <a:pt x="716827" y="0"/>
                  </a:lnTo>
                  <a:lnTo>
                    <a:pt x="716827" y="844930"/>
                  </a:lnTo>
                  <a:lnTo>
                    <a:pt x="0" y="844930"/>
                  </a:lnTo>
                  <a:close/>
                </a:path>
              </a:pathLst>
            </a:custGeom>
            <a:blipFill>
              <a:blip r:embed="rId4"/>
              <a:stretch>
                <a:fillRect t="-349" b="-349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12" name="Freeform 12"/>
          <p:cNvSpPr/>
          <p:nvPr/>
        </p:nvSpPr>
        <p:spPr>
          <a:xfrm rot="-10800000" flipH="1" flipV="1">
            <a:off x="15933738" y="8155251"/>
            <a:ext cx="961726" cy="614342"/>
          </a:xfrm>
          <a:custGeom>
            <a:avLst/>
            <a:gdLst/>
            <a:ahLst/>
            <a:cxnLst/>
            <a:rect l="l" t="t" r="r" b="b"/>
            <a:pathLst>
              <a:path w="961726" h="614342">
                <a:moveTo>
                  <a:pt x="961726" y="614342"/>
                </a:moveTo>
                <a:lnTo>
                  <a:pt x="0" y="614342"/>
                </a:lnTo>
                <a:lnTo>
                  <a:pt x="0" y="0"/>
                </a:lnTo>
                <a:lnTo>
                  <a:pt x="961726" y="0"/>
                </a:lnTo>
                <a:lnTo>
                  <a:pt x="961726" y="61434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66651" b="-42775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3" name="Freeform 13"/>
          <p:cNvSpPr/>
          <p:nvPr/>
        </p:nvSpPr>
        <p:spPr>
          <a:xfrm rot="-10800000" flipH="1" flipV="1">
            <a:off x="16414601" y="7746217"/>
            <a:ext cx="961726" cy="614342"/>
          </a:xfrm>
          <a:custGeom>
            <a:avLst/>
            <a:gdLst/>
            <a:ahLst/>
            <a:cxnLst/>
            <a:rect l="l" t="t" r="r" b="b"/>
            <a:pathLst>
              <a:path w="961726" h="614342">
                <a:moveTo>
                  <a:pt x="961726" y="614341"/>
                </a:moveTo>
                <a:lnTo>
                  <a:pt x="0" y="614341"/>
                </a:lnTo>
                <a:lnTo>
                  <a:pt x="0" y="0"/>
                </a:lnTo>
                <a:lnTo>
                  <a:pt x="961726" y="0"/>
                </a:lnTo>
                <a:lnTo>
                  <a:pt x="961726" y="614341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66651" b="-42775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4" name="TextBox 14"/>
          <p:cNvSpPr txBox="1"/>
          <p:nvPr/>
        </p:nvSpPr>
        <p:spPr>
          <a:xfrm>
            <a:off x="873215" y="1038563"/>
            <a:ext cx="12478272" cy="7755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314"/>
              </a:lnSpc>
              <a:spcBef>
                <a:spcPct val="0"/>
              </a:spcBef>
            </a:pPr>
            <a:r>
              <a:rPr lang="en-US" sz="6642" u="none" strike="noStrike">
                <a:solidFill>
                  <a:srgbClr val="201F1F"/>
                </a:solidFill>
                <a:latin typeface="Bicubik"/>
                <a:ea typeface="Bicubik"/>
                <a:cs typeface="Bicubik"/>
                <a:sym typeface="Bicubik"/>
              </a:rPr>
              <a:t>CONTEXT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73215" y="2505367"/>
            <a:ext cx="9274957" cy="1504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19"/>
              </a:lnSpc>
              <a:spcBef>
                <a:spcPct val="0"/>
              </a:spcBef>
            </a:pPr>
            <a:r>
              <a:rPr lang="en-US" sz="3349" b="1" u="none" strike="noStrike" spc="-66" dirty="0">
                <a:solidFill>
                  <a:srgbClr val="201F1F"/>
                </a:solidFill>
                <a:latin typeface="Telegraf Bold"/>
                <a:ea typeface="Telegraf Bold"/>
                <a:cs typeface="Telegraf Bold"/>
                <a:sym typeface="Telegraf Bold"/>
              </a:rPr>
              <a:t>CHALLENGE: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3150" u="none" strike="noStrike" spc="-63" dirty="0">
                <a:solidFill>
                  <a:srgbClr val="201F1F"/>
                </a:solidFill>
                <a:latin typeface="Telegraf"/>
                <a:ea typeface="Telegraf"/>
                <a:cs typeface="Telegraf"/>
                <a:sym typeface="Telegraf"/>
              </a:rPr>
              <a:t>Safe autonomous navigation in unknown environments for underactuated systems (UAVs)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73215" y="4597495"/>
            <a:ext cx="9810016" cy="24470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019"/>
              </a:lnSpc>
            </a:pPr>
            <a:r>
              <a:rPr lang="en-US" sz="3349" b="1" spc="-66" dirty="0">
                <a:solidFill>
                  <a:srgbClr val="201F1F"/>
                </a:solidFill>
                <a:latin typeface="Telegraf Bold"/>
                <a:ea typeface="Telegraf Bold"/>
                <a:cs typeface="Telegraf Bold"/>
                <a:sym typeface="Telegraf Bold"/>
              </a:rPr>
              <a:t>STATE-OF-THE-ART and LIMITATIONS :</a:t>
            </a:r>
          </a:p>
          <a:p>
            <a:pPr marL="680085" lvl="1" indent="-340042" algn="l">
              <a:lnSpc>
                <a:spcPts val="3779"/>
              </a:lnSpc>
              <a:buFont typeface="Arial"/>
              <a:buChar char="•"/>
            </a:pPr>
            <a:r>
              <a:rPr lang="en-US" sz="3150" b="1" spc="-63" dirty="0">
                <a:solidFill>
                  <a:srgbClr val="201F1F"/>
                </a:solidFill>
                <a:latin typeface="Telegraf"/>
                <a:ea typeface="Telegraf"/>
                <a:cs typeface="Telegraf"/>
                <a:sym typeface="Telegraf"/>
              </a:rPr>
              <a:t>Standard MPC</a:t>
            </a:r>
            <a:r>
              <a:rPr lang="en-US" sz="3150" spc="-63" dirty="0">
                <a:solidFill>
                  <a:srgbClr val="201F1F"/>
                </a:solidFill>
                <a:latin typeface="Telegraf"/>
                <a:ea typeface="Telegraf"/>
                <a:cs typeface="Telegraf"/>
                <a:sym typeface="Telegraf"/>
              </a:rPr>
              <a:t>: Myopic prediction horizons lead to recursive infeasibility and crashes</a:t>
            </a:r>
          </a:p>
          <a:p>
            <a:pPr marL="340043" lvl="1" algn="l">
              <a:lnSpc>
                <a:spcPts val="3779"/>
              </a:lnSpc>
            </a:pPr>
            <a:r>
              <a:rPr lang="en-US" sz="3150" b="1" spc="-63" dirty="0">
                <a:solidFill>
                  <a:srgbClr val="201F1F"/>
                </a:solidFill>
                <a:latin typeface="Telegraf"/>
                <a:ea typeface="Telegraf"/>
                <a:cs typeface="Telegraf"/>
                <a:sym typeface="Wingdings" panose="05000000000000000000" pitchFamily="2" charset="2"/>
              </a:rPr>
              <a:t></a:t>
            </a:r>
            <a:r>
              <a:rPr lang="en-US" sz="3150" b="1" spc="-63" dirty="0">
                <a:solidFill>
                  <a:srgbClr val="201F1F"/>
                </a:solidFill>
                <a:latin typeface="Telegraf"/>
                <a:ea typeface="Telegraf"/>
                <a:cs typeface="Telegraf"/>
                <a:sym typeface="Telegraf"/>
              </a:rPr>
              <a:t> Control Invariant Set</a:t>
            </a:r>
          </a:p>
          <a:p>
            <a:pPr marL="680085" lvl="1" indent="-340042" algn="l">
              <a:lnSpc>
                <a:spcPts val="3779"/>
              </a:lnSpc>
              <a:buFont typeface="Arial"/>
              <a:buChar char="•"/>
            </a:pPr>
            <a:r>
              <a:rPr lang="en-US" sz="3150" b="1" spc="-63" dirty="0">
                <a:solidFill>
                  <a:srgbClr val="201F1F"/>
                </a:solidFill>
                <a:latin typeface="Telegraf"/>
                <a:ea typeface="Telegraf"/>
                <a:cs typeface="Telegraf"/>
                <a:sym typeface="Telegraf"/>
              </a:rPr>
              <a:t>DeepReach</a:t>
            </a:r>
            <a:r>
              <a:rPr lang="en-US" sz="3150" spc="-63" dirty="0">
                <a:solidFill>
                  <a:srgbClr val="201F1F"/>
                </a:solidFill>
                <a:latin typeface="Telegraf"/>
                <a:ea typeface="Telegraf"/>
                <a:cs typeface="Telegraf"/>
                <a:sym typeface="Telegraf"/>
              </a:rPr>
              <a:t>: High computational costs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9795003" y="6758181"/>
            <a:ext cx="5230964" cy="3528820"/>
            <a:chOff x="0" y="0"/>
            <a:chExt cx="721265" cy="511511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721265" cy="511511"/>
            </a:xfrm>
            <a:custGeom>
              <a:avLst/>
              <a:gdLst/>
              <a:ahLst/>
              <a:cxnLst/>
              <a:rect l="l" t="t" r="r" b="b"/>
              <a:pathLst>
                <a:path w="721265" h="511511">
                  <a:moveTo>
                    <a:pt x="0" y="0"/>
                  </a:moveTo>
                  <a:lnTo>
                    <a:pt x="721265" y="0"/>
                  </a:lnTo>
                  <a:lnTo>
                    <a:pt x="721265" y="511511"/>
                  </a:lnTo>
                  <a:lnTo>
                    <a:pt x="0" y="511511"/>
                  </a:lnTo>
                  <a:close/>
                </a:path>
              </a:pathLst>
            </a:custGeom>
            <a:blipFill>
              <a:blip r:embed="rId5"/>
              <a:stretch>
                <a:fillRect t="-23922" b="-23922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873215" y="7505700"/>
            <a:ext cx="9176879" cy="1967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19"/>
              </a:lnSpc>
              <a:spcBef>
                <a:spcPct val="0"/>
              </a:spcBef>
            </a:pPr>
            <a:r>
              <a:rPr lang="en-US" sz="3349" b="1" u="none" strike="noStrike" spc="-66" dirty="0">
                <a:solidFill>
                  <a:srgbClr val="201F1F"/>
                </a:solidFill>
                <a:latin typeface="Telegraf Bold"/>
                <a:ea typeface="Telegraf Bold"/>
                <a:cs typeface="Telegraf Bold"/>
                <a:sym typeface="Telegraf Bold"/>
              </a:rPr>
              <a:t>GOAL:</a:t>
            </a:r>
          </a:p>
          <a:p>
            <a:pPr>
              <a:spcBef>
                <a:spcPct val="0"/>
              </a:spcBef>
            </a:pPr>
            <a:r>
              <a:rPr lang="en-US" sz="3150" u="none" strike="noStrike" spc="-63" dirty="0">
                <a:solidFill>
                  <a:srgbClr val="201F1F"/>
                </a:solidFill>
                <a:latin typeface="Telegraf"/>
                <a:ea typeface="Telegraf"/>
                <a:cs typeface="Telegraf"/>
                <a:sym typeface="Telegraf"/>
              </a:rPr>
              <a:t>Combine the optimality of MPC with the safety guarantees of </a:t>
            </a:r>
            <a:r>
              <a:rPr lang="it-IT" sz="3150" dirty="0">
                <a:latin typeface="Telegraf" panose="020B0604020202020204" charset="0"/>
              </a:rPr>
              <a:t>control-</a:t>
            </a:r>
            <a:r>
              <a:rPr lang="it-IT" sz="3150" dirty="0" err="1">
                <a:latin typeface="Telegraf" panose="020B0604020202020204" charset="0"/>
              </a:rPr>
              <a:t>invariant</a:t>
            </a:r>
            <a:r>
              <a:rPr lang="it-IT" sz="3150" dirty="0">
                <a:latin typeface="Telegraf" panose="020B0604020202020204" charset="0"/>
              </a:rPr>
              <a:t> terminal </a:t>
            </a:r>
            <a:r>
              <a:rPr lang="it-IT" sz="3150" dirty="0" err="1">
                <a:latin typeface="Telegraf" panose="020B0604020202020204" charset="0"/>
              </a:rPr>
              <a:t>constraint</a:t>
            </a:r>
            <a:r>
              <a:rPr lang="it-IT" sz="3150" dirty="0">
                <a:latin typeface="Telegraf" panose="020B0604020202020204" charset="0"/>
              </a:rPr>
              <a:t> set to </a:t>
            </a:r>
            <a:r>
              <a:rPr lang="it-IT" sz="3150" dirty="0" err="1">
                <a:latin typeface="Telegraf" panose="020B0604020202020204" charset="0"/>
              </a:rPr>
              <a:t>ensure</a:t>
            </a:r>
            <a:r>
              <a:rPr lang="it-IT" sz="3150" dirty="0">
                <a:latin typeface="Telegraf" panose="020B0604020202020204" charset="0"/>
              </a:rPr>
              <a:t> recursive </a:t>
            </a:r>
            <a:r>
              <a:rPr lang="it-IT" sz="3150" dirty="0" err="1">
                <a:latin typeface="Telegraf" panose="020B0604020202020204" charset="0"/>
              </a:rPr>
              <a:t>feasibility</a:t>
            </a:r>
            <a:endParaRPr lang="en-US" sz="3150" u="none" strike="noStrike" spc="-63" dirty="0">
              <a:solidFill>
                <a:srgbClr val="201F1F"/>
              </a:solidFill>
              <a:latin typeface="Telegraf" panose="020B0604020202020204" charset="0"/>
              <a:ea typeface="Telegraf"/>
              <a:cs typeface="Telegraf"/>
              <a:sym typeface="Telegraf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 rot="-10800000" flipH="1" flipV="1">
            <a:off x="6411833" y="8880927"/>
            <a:ext cx="1417005" cy="905170"/>
          </a:xfrm>
          <a:custGeom>
            <a:avLst/>
            <a:gdLst/>
            <a:ahLst/>
            <a:cxnLst/>
            <a:rect l="l" t="t" r="r" b="b"/>
            <a:pathLst>
              <a:path w="1417005" h="905170">
                <a:moveTo>
                  <a:pt x="1417006" y="905170"/>
                </a:moveTo>
                <a:lnTo>
                  <a:pt x="0" y="905170"/>
                </a:lnTo>
                <a:lnTo>
                  <a:pt x="0" y="0"/>
                </a:lnTo>
                <a:lnTo>
                  <a:pt x="1417006" y="0"/>
                </a:lnTo>
                <a:lnTo>
                  <a:pt x="1417006" y="90517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66651" b="-42775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Freeform 6"/>
          <p:cNvSpPr/>
          <p:nvPr/>
        </p:nvSpPr>
        <p:spPr>
          <a:xfrm rot="2441252" flipH="1" flipV="1">
            <a:off x="4995051" y="6624496"/>
            <a:ext cx="1248210" cy="1830849"/>
          </a:xfrm>
          <a:custGeom>
            <a:avLst/>
            <a:gdLst/>
            <a:ahLst/>
            <a:cxnLst/>
            <a:rect l="l" t="t" r="r" b="b"/>
            <a:pathLst>
              <a:path w="1138660" h="2033321">
                <a:moveTo>
                  <a:pt x="1138659" y="0"/>
                </a:moveTo>
                <a:lnTo>
                  <a:pt x="0" y="0"/>
                </a:lnTo>
                <a:lnTo>
                  <a:pt x="0" y="2033321"/>
                </a:lnTo>
                <a:lnTo>
                  <a:pt x="1138659" y="2033321"/>
                </a:lnTo>
                <a:lnTo>
                  <a:pt x="1138659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7" name="Group 7"/>
          <p:cNvGrpSpPr/>
          <p:nvPr/>
        </p:nvGrpSpPr>
        <p:grpSpPr>
          <a:xfrm>
            <a:off x="1" y="1866205"/>
            <a:ext cx="18288000" cy="2076450"/>
            <a:chOff x="0" y="0"/>
            <a:chExt cx="5038184" cy="56507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038184" cy="565071"/>
            </a:xfrm>
            <a:custGeom>
              <a:avLst/>
              <a:gdLst/>
              <a:ahLst/>
              <a:cxnLst/>
              <a:rect l="l" t="t" r="r" b="b"/>
              <a:pathLst>
                <a:path w="5038184" h="565071">
                  <a:moveTo>
                    <a:pt x="0" y="0"/>
                  </a:moveTo>
                  <a:lnTo>
                    <a:pt x="5038184" y="0"/>
                  </a:lnTo>
                  <a:lnTo>
                    <a:pt x="5038184" y="565071"/>
                  </a:lnTo>
                  <a:lnTo>
                    <a:pt x="0" y="565071"/>
                  </a:lnTo>
                  <a:close/>
                </a:path>
              </a:pathLst>
            </a:custGeom>
            <a:gradFill rotWithShape="1">
              <a:gsLst>
                <a:gs pos="0">
                  <a:srgbClr val="565656">
                    <a:alpha val="100000"/>
                  </a:srgbClr>
                </a:gs>
                <a:gs pos="50000">
                  <a:srgbClr val="575757">
                    <a:alpha val="0"/>
                  </a:srgbClr>
                </a:gs>
                <a:gs pos="100000">
                  <a:srgbClr val="8C0808">
                    <a:alpha val="100000"/>
                  </a:srgbClr>
                </a:gs>
              </a:gsLst>
              <a:lin ang="2700000"/>
            </a:gradFill>
            <a:ln w="9525" cap="sq">
              <a:gradFill>
                <a:gsLst>
                  <a:gs pos="0">
                    <a:srgbClr val="565656">
                      <a:alpha val="100000"/>
                    </a:srgbClr>
                  </a:gs>
                  <a:gs pos="100000">
                    <a:srgbClr val="575757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5038184" cy="6031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028700" y="1036310"/>
            <a:ext cx="6824302" cy="829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719"/>
              </a:lnSpc>
            </a:pPr>
            <a:r>
              <a:rPr lang="en-US" sz="7149">
                <a:solidFill>
                  <a:srgbClr val="201F1F"/>
                </a:solidFill>
                <a:latin typeface="Bicubik"/>
                <a:ea typeface="Bicubik"/>
                <a:cs typeface="Bicubik"/>
                <a:sym typeface="Bicubik"/>
              </a:rPr>
              <a:t>METHOD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62000" y="7135546"/>
            <a:ext cx="4724400" cy="24213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3150" b="1" u="none" strike="noStrike" spc="-63" dirty="0">
                <a:solidFill>
                  <a:srgbClr val="201F1F"/>
                </a:solidFill>
                <a:latin typeface="Telegraf Bold"/>
                <a:ea typeface="Telegraf Bold"/>
                <a:cs typeface="Telegraf Bold"/>
                <a:sym typeface="Telegraf Bold"/>
              </a:rPr>
              <a:t>Recovery Box</a:t>
            </a:r>
            <a:r>
              <a:rPr lang="en-US" sz="3150" u="none" strike="noStrike" spc="-63" dirty="0">
                <a:solidFill>
                  <a:srgbClr val="201F1F"/>
                </a:solidFill>
                <a:latin typeface="Telegraf"/>
                <a:ea typeface="Telegraf"/>
                <a:cs typeface="Telegraf"/>
                <a:sym typeface="Telegraf"/>
              </a:rPr>
              <a:t>: rectangular volume modeling the exact physical space required for the UAV to stop safely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2313880"/>
            <a:ext cx="9330089" cy="1343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28353" lvl="1" indent="-464177" algn="l">
              <a:lnSpc>
                <a:spcPts val="5159"/>
              </a:lnSpc>
              <a:buAutoNum type="arabicPeriod"/>
            </a:pPr>
            <a:r>
              <a:rPr lang="en-US" sz="4299" b="1" spc="-85">
                <a:solidFill>
                  <a:srgbClr val="201F1F"/>
                </a:solidFill>
                <a:latin typeface="Telegraf Bold"/>
                <a:ea typeface="Telegraf Bold"/>
                <a:cs typeface="Telegraf Bold"/>
                <a:sym typeface="Telegraf Bold"/>
              </a:rPr>
              <a:t>Offline OCP &amp; Dataset Generation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892171" y="4610100"/>
            <a:ext cx="9039323" cy="1981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19"/>
              </a:lnSpc>
              <a:spcBef>
                <a:spcPct val="0"/>
              </a:spcBef>
            </a:pPr>
            <a:r>
              <a:rPr lang="en-US" sz="3349" b="1" u="none" strike="noStrike" spc="-66" dirty="0">
                <a:solidFill>
                  <a:srgbClr val="201F1F"/>
                </a:solidFill>
                <a:latin typeface="Telegraf Bold"/>
                <a:ea typeface="Telegraf Bold"/>
                <a:cs typeface="Telegraf Bold"/>
                <a:sym typeface="Telegraf Bold"/>
              </a:rPr>
              <a:t>RBOC Method</a:t>
            </a:r>
          </a:p>
          <a:p>
            <a:pPr marL="0" lvl="1" indent="0" algn="ctr">
              <a:lnSpc>
                <a:spcPts val="3779"/>
              </a:lnSpc>
              <a:spcBef>
                <a:spcPct val="0"/>
              </a:spcBef>
            </a:pPr>
            <a:r>
              <a:rPr lang="en-US" sz="3150" u="none" strike="noStrike" spc="-63" dirty="0">
                <a:solidFill>
                  <a:srgbClr val="201F1F"/>
                </a:solidFill>
                <a:latin typeface="Telegraf"/>
                <a:ea typeface="Telegraf"/>
                <a:cs typeface="Telegraf"/>
                <a:sym typeface="Telegraf"/>
              </a:rPr>
              <a:t>Solved thousands of Optimal Control Problems across randomized initial conditions to find the minimal </a:t>
            </a:r>
            <a:r>
              <a:rPr lang="en-US" sz="3150" b="1" u="none" strike="noStrike" spc="-63" dirty="0">
                <a:solidFill>
                  <a:srgbClr val="201F1F"/>
                </a:solidFill>
                <a:latin typeface="Telegraf Bold"/>
                <a:ea typeface="Telegraf Bold"/>
                <a:cs typeface="Telegraf Bold"/>
                <a:sym typeface="Telegraf Bold"/>
              </a:rPr>
              <a:t>box </a:t>
            </a:r>
            <a:r>
              <a:rPr lang="en-US" sz="3150" u="none" strike="noStrike" spc="-63" dirty="0">
                <a:solidFill>
                  <a:srgbClr val="201F1F"/>
                </a:solidFill>
                <a:latin typeface="Telegraf"/>
                <a:ea typeface="Telegraf"/>
                <a:cs typeface="Telegraf"/>
                <a:sym typeface="Telegraf"/>
              </a:rPr>
              <a:t>dimensions</a:t>
            </a:r>
          </a:p>
        </p:txBody>
      </p:sp>
      <p:sp>
        <p:nvSpPr>
          <p:cNvPr id="14" name="Freeform 14"/>
          <p:cNvSpPr/>
          <p:nvPr/>
        </p:nvSpPr>
        <p:spPr>
          <a:xfrm>
            <a:off x="8231801" y="2240677"/>
            <a:ext cx="4495800" cy="619816"/>
          </a:xfrm>
          <a:custGeom>
            <a:avLst/>
            <a:gdLst/>
            <a:ahLst/>
            <a:cxnLst/>
            <a:rect l="l" t="t" r="r" b="b"/>
            <a:pathLst>
              <a:path w="7315200" h="731520">
                <a:moveTo>
                  <a:pt x="0" y="0"/>
                </a:moveTo>
                <a:lnTo>
                  <a:pt x="7315200" y="0"/>
                </a:lnTo>
                <a:lnTo>
                  <a:pt x="7315200" y="731520"/>
                </a:lnTo>
                <a:lnTo>
                  <a:pt x="0" y="7315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3" name="Group 3"/>
          <p:cNvGrpSpPr/>
          <p:nvPr/>
        </p:nvGrpSpPr>
        <p:grpSpPr>
          <a:xfrm>
            <a:off x="11598806" y="4632545"/>
            <a:ext cx="5427598" cy="4966774"/>
            <a:chOff x="0" y="0"/>
            <a:chExt cx="832359" cy="73795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32359" cy="737951"/>
            </a:xfrm>
            <a:custGeom>
              <a:avLst/>
              <a:gdLst/>
              <a:ahLst/>
              <a:cxnLst/>
              <a:rect l="l" t="t" r="r" b="b"/>
              <a:pathLst>
                <a:path w="832359" h="737951">
                  <a:moveTo>
                    <a:pt x="0" y="0"/>
                  </a:moveTo>
                  <a:lnTo>
                    <a:pt x="832359" y="0"/>
                  </a:lnTo>
                  <a:lnTo>
                    <a:pt x="832359" y="737951"/>
                  </a:lnTo>
                  <a:lnTo>
                    <a:pt x="0" y="737951"/>
                  </a:lnTo>
                  <a:close/>
                </a:path>
              </a:pathLst>
            </a:custGeom>
            <a:blipFill>
              <a:blip r:embed="rId6"/>
              <a:stretch>
                <a:fillRect t="-545" b="-545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5" name="Input penna 24">
                <a:extLst>
                  <a:ext uri="{FF2B5EF4-FFF2-40B4-BE49-F238E27FC236}">
                    <a16:creationId xmlns:a16="http://schemas.microsoft.com/office/drawing/2014/main" id="{163FEB6E-FBF4-CAF4-3C54-6B9F6CD6C8EF}"/>
                  </a:ext>
                </a:extLst>
              </p14:cNvPr>
              <p14:cNvContentPartPr/>
              <p14:nvPr/>
            </p14:nvContentPartPr>
            <p14:xfrm>
              <a:off x="5739181" y="6394850"/>
              <a:ext cx="714240" cy="360"/>
            </p14:xfrm>
          </p:contentPart>
        </mc:Choice>
        <mc:Fallback xmlns="">
          <p:pic>
            <p:nvPicPr>
              <p:cNvPr id="25" name="Input penna 24">
                <a:extLst>
                  <a:ext uri="{FF2B5EF4-FFF2-40B4-BE49-F238E27FC236}">
                    <a16:creationId xmlns:a16="http://schemas.microsoft.com/office/drawing/2014/main" id="{163FEB6E-FBF4-CAF4-3C54-6B9F6CD6C8EF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649181" y="6215210"/>
                <a:ext cx="89388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6" name="Input penna 25">
                <a:extLst>
                  <a:ext uri="{FF2B5EF4-FFF2-40B4-BE49-F238E27FC236}">
                    <a16:creationId xmlns:a16="http://schemas.microsoft.com/office/drawing/2014/main" id="{46E2331C-E48D-20A7-FD85-36E673601E53}"/>
                  </a:ext>
                </a:extLst>
              </p14:cNvPr>
              <p14:cNvContentPartPr/>
              <p14:nvPr/>
            </p14:nvContentPartPr>
            <p14:xfrm>
              <a:off x="5788141" y="6200450"/>
              <a:ext cx="2885400" cy="360"/>
            </p14:xfrm>
          </p:contentPart>
        </mc:Choice>
        <mc:Fallback xmlns="">
          <p:pic>
            <p:nvPicPr>
              <p:cNvPr id="26" name="Input penna 25">
                <a:extLst>
                  <a:ext uri="{FF2B5EF4-FFF2-40B4-BE49-F238E27FC236}">
                    <a16:creationId xmlns:a16="http://schemas.microsoft.com/office/drawing/2014/main" id="{46E2331C-E48D-20A7-FD85-36E673601E53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698501" y="6020810"/>
                <a:ext cx="306504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7" name="Input penna 26">
                <a:extLst>
                  <a:ext uri="{FF2B5EF4-FFF2-40B4-BE49-F238E27FC236}">
                    <a16:creationId xmlns:a16="http://schemas.microsoft.com/office/drawing/2014/main" id="{1A7D7BE5-0943-6EF3-99CA-9AD88BBBA928}"/>
                  </a:ext>
                </a:extLst>
              </p14:cNvPr>
              <p14:cNvContentPartPr/>
              <p14:nvPr/>
            </p14:nvContentPartPr>
            <p14:xfrm>
              <a:off x="5791200" y="6438540"/>
              <a:ext cx="2913480" cy="360"/>
            </p14:xfrm>
          </p:contentPart>
        </mc:Choice>
        <mc:Fallback xmlns="">
          <p:pic>
            <p:nvPicPr>
              <p:cNvPr id="27" name="Input penna 26">
                <a:extLst>
                  <a:ext uri="{FF2B5EF4-FFF2-40B4-BE49-F238E27FC236}">
                    <a16:creationId xmlns:a16="http://schemas.microsoft.com/office/drawing/2014/main" id="{1A7D7BE5-0943-6EF3-99CA-9AD88BBBA928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701560" y="6258540"/>
                <a:ext cx="309312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8" name="Input penna 27">
                <a:extLst>
                  <a:ext uri="{FF2B5EF4-FFF2-40B4-BE49-F238E27FC236}">
                    <a16:creationId xmlns:a16="http://schemas.microsoft.com/office/drawing/2014/main" id="{0F92229F-2BC6-CC0E-7E04-B856E502CF49}"/>
                  </a:ext>
                </a:extLst>
              </p14:cNvPr>
              <p14:cNvContentPartPr/>
              <p14:nvPr/>
            </p14:nvContentPartPr>
            <p14:xfrm>
              <a:off x="3540661" y="5908490"/>
              <a:ext cx="5232240" cy="360"/>
            </p14:xfrm>
          </p:contentPart>
        </mc:Choice>
        <mc:Fallback xmlns="">
          <p:pic>
            <p:nvPicPr>
              <p:cNvPr id="28" name="Input penna 27">
                <a:extLst>
                  <a:ext uri="{FF2B5EF4-FFF2-40B4-BE49-F238E27FC236}">
                    <a16:creationId xmlns:a16="http://schemas.microsoft.com/office/drawing/2014/main" id="{0F92229F-2BC6-CC0E-7E04-B856E502CF49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451021" y="5728850"/>
                <a:ext cx="541188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9" name="Input penna 28">
                <a:extLst>
                  <a:ext uri="{FF2B5EF4-FFF2-40B4-BE49-F238E27FC236}">
                    <a16:creationId xmlns:a16="http://schemas.microsoft.com/office/drawing/2014/main" id="{8BF5D4AF-DE79-CB5D-DE89-C7D0A5B08EBB}"/>
                  </a:ext>
                </a:extLst>
              </p14:cNvPr>
              <p14:cNvContentPartPr/>
              <p14:nvPr/>
            </p14:nvContentPartPr>
            <p14:xfrm>
              <a:off x="3560101" y="5791850"/>
              <a:ext cx="5152680" cy="360"/>
            </p14:xfrm>
          </p:contentPart>
        </mc:Choice>
        <mc:Fallback xmlns="">
          <p:pic>
            <p:nvPicPr>
              <p:cNvPr id="29" name="Input penna 28">
                <a:extLst>
                  <a:ext uri="{FF2B5EF4-FFF2-40B4-BE49-F238E27FC236}">
                    <a16:creationId xmlns:a16="http://schemas.microsoft.com/office/drawing/2014/main" id="{8BF5D4AF-DE79-CB5D-DE89-C7D0A5B08EBB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470461" y="5612210"/>
                <a:ext cx="5332320" cy="360000"/>
              </a:xfrm>
              <a:prstGeom prst="rect">
                <a:avLst/>
              </a:prstGeom>
            </p:spPr>
          </p:pic>
        </mc:Fallback>
      </mc:AlternateContent>
      <p:sp>
        <p:nvSpPr>
          <p:cNvPr id="15" name="Freeform 5">
            <a:extLst>
              <a:ext uri="{FF2B5EF4-FFF2-40B4-BE49-F238E27FC236}">
                <a16:creationId xmlns:a16="http://schemas.microsoft.com/office/drawing/2014/main" id="{67B1B70A-9D06-602C-6BE0-05B4F5AE01D8}"/>
              </a:ext>
            </a:extLst>
          </p:cNvPr>
          <p:cNvSpPr/>
          <p:nvPr/>
        </p:nvSpPr>
        <p:spPr>
          <a:xfrm rot="-10800000" flipH="1" flipV="1">
            <a:off x="7641523" y="7505700"/>
            <a:ext cx="2834789" cy="1745700"/>
          </a:xfrm>
          <a:custGeom>
            <a:avLst/>
            <a:gdLst/>
            <a:ahLst/>
            <a:cxnLst/>
            <a:rect l="l" t="t" r="r" b="b"/>
            <a:pathLst>
              <a:path w="1417005" h="905170">
                <a:moveTo>
                  <a:pt x="1417006" y="905170"/>
                </a:moveTo>
                <a:lnTo>
                  <a:pt x="0" y="905170"/>
                </a:lnTo>
                <a:lnTo>
                  <a:pt x="0" y="0"/>
                </a:lnTo>
                <a:lnTo>
                  <a:pt x="1417006" y="0"/>
                </a:lnTo>
                <a:lnTo>
                  <a:pt x="1417006" y="90517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66651" b="-42775"/>
            </a:stretch>
          </a:blipFill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magine 22">
            <a:extLst>
              <a:ext uri="{FF2B5EF4-FFF2-40B4-BE49-F238E27FC236}">
                <a16:creationId xmlns:a16="http://schemas.microsoft.com/office/drawing/2014/main" id="{ED8B5D80-70F2-64F8-C46B-C543248F61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4717" y="3736491"/>
            <a:ext cx="15764342" cy="4683609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04288763-EFBA-E674-3BE0-26198C78D6DA}"/>
              </a:ext>
            </a:extLst>
          </p:cNvPr>
          <p:cNvSpPr txBox="1"/>
          <p:nvPr/>
        </p:nvSpPr>
        <p:spPr>
          <a:xfrm>
            <a:off x="1905000" y="2068871"/>
            <a:ext cx="9144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u="none" strike="noStrike" spc="-66" dirty="0">
                <a:solidFill>
                  <a:srgbClr val="201F1F"/>
                </a:solidFill>
                <a:latin typeface="Telegraf Bold"/>
                <a:ea typeface="Telegraf Bold"/>
                <a:cs typeface="Telegraf Bold"/>
                <a:sym typeface="Telegraf Bold"/>
              </a:rPr>
              <a:t>RBOC OCP Formulation</a:t>
            </a:r>
            <a:endParaRPr lang="it-IT" sz="36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0" name="Input penna 9">
                <a:extLst>
                  <a:ext uri="{FF2B5EF4-FFF2-40B4-BE49-F238E27FC236}">
                    <a16:creationId xmlns:a16="http://schemas.microsoft.com/office/drawing/2014/main" id="{AF23C26A-D9DA-E270-37B4-F292F35FB6C9}"/>
                  </a:ext>
                </a:extLst>
              </p14:cNvPr>
              <p14:cNvContentPartPr/>
              <p14:nvPr/>
            </p14:nvContentPartPr>
            <p14:xfrm>
              <a:off x="5255880" y="4323325"/>
              <a:ext cx="1531080" cy="360"/>
            </p14:xfrm>
          </p:contentPart>
        </mc:Choice>
        <mc:Fallback>
          <p:pic>
            <p:nvPicPr>
              <p:cNvPr id="10" name="Input penna 9">
                <a:extLst>
                  <a:ext uri="{FF2B5EF4-FFF2-40B4-BE49-F238E27FC236}">
                    <a16:creationId xmlns:a16="http://schemas.microsoft.com/office/drawing/2014/main" id="{AF23C26A-D9DA-E270-37B4-F292F35FB6C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165880" y="4143325"/>
                <a:ext cx="171072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2" name="Input penna 11">
                <a:extLst>
                  <a:ext uri="{FF2B5EF4-FFF2-40B4-BE49-F238E27FC236}">
                    <a16:creationId xmlns:a16="http://schemas.microsoft.com/office/drawing/2014/main" id="{0DCEA81F-6771-99FA-6124-7B2880CFD546}"/>
                  </a:ext>
                </a:extLst>
              </p14:cNvPr>
              <p14:cNvContentPartPr/>
              <p14:nvPr/>
            </p14:nvContentPartPr>
            <p14:xfrm>
              <a:off x="5362864" y="7168616"/>
              <a:ext cx="1876136" cy="360"/>
            </p14:xfrm>
          </p:contentPart>
        </mc:Choice>
        <mc:Fallback>
          <p:pic>
            <p:nvPicPr>
              <p:cNvPr id="12" name="Input penna 11">
                <a:extLst>
                  <a:ext uri="{FF2B5EF4-FFF2-40B4-BE49-F238E27FC236}">
                    <a16:creationId xmlns:a16="http://schemas.microsoft.com/office/drawing/2014/main" id="{0DCEA81F-6771-99FA-6124-7B2880CFD54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272873" y="6988616"/>
                <a:ext cx="2055758" cy="360000"/>
              </a:xfrm>
              <a:prstGeom prst="rect">
                <a:avLst/>
              </a:prstGeom>
            </p:spPr>
          </p:pic>
        </mc:Fallback>
      </mc:AlternateContent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2717E3DD-3856-4FC0-3578-CC405925F18F}"/>
              </a:ext>
            </a:extLst>
          </p:cNvPr>
          <p:cNvSpPr txBox="1"/>
          <p:nvPr/>
        </p:nvSpPr>
        <p:spPr>
          <a:xfrm>
            <a:off x="8305800" y="3330124"/>
            <a:ext cx="3962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000" dirty="0"/>
              <a:t>Box scaling factor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FF304C1C-7C24-12F6-9DB0-971FC9C95D43}"/>
              </a:ext>
            </a:extLst>
          </p:cNvPr>
          <p:cNvSpPr txBox="1"/>
          <p:nvPr/>
        </p:nvSpPr>
        <p:spPr>
          <a:xfrm>
            <a:off x="9690847" y="7510243"/>
            <a:ext cx="3962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000" dirty="0"/>
              <a:t>Random I.C.</a:t>
            </a:r>
          </a:p>
        </p:txBody>
      </p:sp>
      <p:sp>
        <p:nvSpPr>
          <p:cNvPr id="4" name="Freeform 6">
            <a:extLst>
              <a:ext uri="{FF2B5EF4-FFF2-40B4-BE49-F238E27FC236}">
                <a16:creationId xmlns:a16="http://schemas.microsoft.com/office/drawing/2014/main" id="{62203484-8FBC-59AE-5AA4-5EE22833340A}"/>
              </a:ext>
            </a:extLst>
          </p:cNvPr>
          <p:cNvSpPr/>
          <p:nvPr/>
        </p:nvSpPr>
        <p:spPr>
          <a:xfrm rot="6068335" flipH="1">
            <a:off x="7508216" y="3477302"/>
            <a:ext cx="1045491" cy="1933715"/>
          </a:xfrm>
          <a:custGeom>
            <a:avLst/>
            <a:gdLst/>
            <a:ahLst/>
            <a:cxnLst/>
            <a:rect l="l" t="t" r="r" b="b"/>
            <a:pathLst>
              <a:path w="1138660" h="2033321">
                <a:moveTo>
                  <a:pt x="1138659" y="0"/>
                </a:moveTo>
                <a:lnTo>
                  <a:pt x="0" y="0"/>
                </a:lnTo>
                <a:lnTo>
                  <a:pt x="0" y="2033321"/>
                </a:lnTo>
                <a:lnTo>
                  <a:pt x="1138659" y="2033321"/>
                </a:lnTo>
                <a:lnTo>
                  <a:pt x="1138659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A3A98DD3-0CEF-25D5-3243-AF962BEA3534}"/>
              </a:ext>
            </a:extLst>
          </p:cNvPr>
          <p:cNvSpPr txBox="1"/>
          <p:nvPr/>
        </p:nvSpPr>
        <p:spPr>
          <a:xfrm>
            <a:off x="8256494" y="941294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it-IT" dirty="0"/>
          </a:p>
        </p:txBody>
      </p:sp>
      <p:sp>
        <p:nvSpPr>
          <p:cNvPr id="18" name="Freeform 6">
            <a:extLst>
              <a:ext uri="{FF2B5EF4-FFF2-40B4-BE49-F238E27FC236}">
                <a16:creationId xmlns:a16="http://schemas.microsoft.com/office/drawing/2014/main" id="{F67010B7-4D35-4B87-C6E3-249F2F0C6E54}"/>
              </a:ext>
            </a:extLst>
          </p:cNvPr>
          <p:cNvSpPr/>
          <p:nvPr/>
        </p:nvSpPr>
        <p:spPr>
          <a:xfrm rot="16363520" flipH="1" flipV="1">
            <a:off x="7998466" y="6273604"/>
            <a:ext cx="1248210" cy="2136161"/>
          </a:xfrm>
          <a:custGeom>
            <a:avLst/>
            <a:gdLst/>
            <a:ahLst/>
            <a:cxnLst/>
            <a:rect l="l" t="t" r="r" b="b"/>
            <a:pathLst>
              <a:path w="1138660" h="2033321">
                <a:moveTo>
                  <a:pt x="1138659" y="0"/>
                </a:moveTo>
                <a:lnTo>
                  <a:pt x="0" y="0"/>
                </a:lnTo>
                <a:lnTo>
                  <a:pt x="0" y="2033321"/>
                </a:lnTo>
                <a:lnTo>
                  <a:pt x="1138659" y="2033321"/>
                </a:lnTo>
                <a:lnTo>
                  <a:pt x="1138659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A31632F4-0380-8199-0B2B-35F482671AC5}"/>
              </a:ext>
            </a:extLst>
          </p:cNvPr>
          <p:cNvSpPr txBox="1"/>
          <p:nvPr/>
        </p:nvSpPr>
        <p:spPr>
          <a:xfrm>
            <a:off x="10228974" y="4229100"/>
            <a:ext cx="342914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4000" dirty="0"/>
              <a:t>Dynamic model</a:t>
            </a: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5A36A7AD-C0A3-DB5E-8953-3DB82B9A5555}"/>
              </a:ext>
            </a:extLst>
          </p:cNvPr>
          <p:cNvSpPr/>
          <p:nvPr/>
        </p:nvSpPr>
        <p:spPr>
          <a:xfrm rot="5400000" flipH="1">
            <a:off x="9443813" y="4600668"/>
            <a:ext cx="735469" cy="1408101"/>
          </a:xfrm>
          <a:custGeom>
            <a:avLst/>
            <a:gdLst/>
            <a:ahLst/>
            <a:cxnLst/>
            <a:rect l="l" t="t" r="r" b="b"/>
            <a:pathLst>
              <a:path w="1138660" h="2033321">
                <a:moveTo>
                  <a:pt x="1138659" y="0"/>
                </a:moveTo>
                <a:lnTo>
                  <a:pt x="0" y="0"/>
                </a:lnTo>
                <a:lnTo>
                  <a:pt x="0" y="2033321"/>
                </a:lnTo>
                <a:lnTo>
                  <a:pt x="1138659" y="2033321"/>
                </a:lnTo>
                <a:lnTo>
                  <a:pt x="1138659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25" name="Input penna 24">
                <a:extLst>
                  <a:ext uri="{FF2B5EF4-FFF2-40B4-BE49-F238E27FC236}">
                    <a16:creationId xmlns:a16="http://schemas.microsoft.com/office/drawing/2014/main" id="{DBA73DC8-2BC2-7A77-E2C4-33D44627F5E7}"/>
                  </a:ext>
                </a:extLst>
              </p14:cNvPr>
              <p14:cNvContentPartPr/>
              <p14:nvPr/>
            </p14:nvContentPartPr>
            <p14:xfrm>
              <a:off x="5255880" y="5372100"/>
              <a:ext cx="3735720" cy="360"/>
            </p14:xfrm>
          </p:contentPart>
        </mc:Choice>
        <mc:Fallback>
          <p:pic>
            <p:nvPicPr>
              <p:cNvPr id="25" name="Input penna 24">
                <a:extLst>
                  <a:ext uri="{FF2B5EF4-FFF2-40B4-BE49-F238E27FC236}">
                    <a16:creationId xmlns:a16="http://schemas.microsoft.com/office/drawing/2014/main" id="{DBA73DC8-2BC2-7A77-E2C4-33D44627F5E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165880" y="5192100"/>
                <a:ext cx="391536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26" name="Input penna 25">
                <a:extLst>
                  <a:ext uri="{FF2B5EF4-FFF2-40B4-BE49-F238E27FC236}">
                    <a16:creationId xmlns:a16="http://schemas.microsoft.com/office/drawing/2014/main" id="{011E1B0C-FFFA-A356-5BE0-4627203E7DFA}"/>
                  </a:ext>
                </a:extLst>
              </p14:cNvPr>
              <p14:cNvContentPartPr/>
              <p14:nvPr/>
            </p14:nvContentPartPr>
            <p14:xfrm>
              <a:off x="5362864" y="6896100"/>
              <a:ext cx="1876136" cy="360"/>
            </p14:xfrm>
          </p:contentPart>
        </mc:Choice>
        <mc:Fallback>
          <p:pic>
            <p:nvPicPr>
              <p:cNvPr id="26" name="Input penna 25">
                <a:extLst>
                  <a:ext uri="{FF2B5EF4-FFF2-40B4-BE49-F238E27FC236}">
                    <a16:creationId xmlns:a16="http://schemas.microsoft.com/office/drawing/2014/main" id="{011E1B0C-FFFA-A356-5BE0-4627203E7DF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272873" y="6716100"/>
                <a:ext cx="2055758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27" name="Input penna 26">
                <a:extLst>
                  <a:ext uri="{FF2B5EF4-FFF2-40B4-BE49-F238E27FC236}">
                    <a16:creationId xmlns:a16="http://schemas.microsoft.com/office/drawing/2014/main" id="{7847381A-E037-B58D-3203-CC30A0A16C05}"/>
                  </a:ext>
                </a:extLst>
              </p14:cNvPr>
              <p14:cNvContentPartPr/>
              <p14:nvPr/>
            </p14:nvContentPartPr>
            <p14:xfrm>
              <a:off x="5255880" y="4018525"/>
              <a:ext cx="1531080" cy="360"/>
            </p14:xfrm>
          </p:contentPart>
        </mc:Choice>
        <mc:Fallback>
          <p:pic>
            <p:nvPicPr>
              <p:cNvPr id="27" name="Input penna 26">
                <a:extLst>
                  <a:ext uri="{FF2B5EF4-FFF2-40B4-BE49-F238E27FC236}">
                    <a16:creationId xmlns:a16="http://schemas.microsoft.com/office/drawing/2014/main" id="{7847381A-E037-B58D-3203-CC30A0A16C0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165880" y="3838525"/>
                <a:ext cx="171072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28" name="Input penna 27">
                <a:extLst>
                  <a:ext uri="{FF2B5EF4-FFF2-40B4-BE49-F238E27FC236}">
                    <a16:creationId xmlns:a16="http://schemas.microsoft.com/office/drawing/2014/main" id="{8F1769B2-2CE0-4D7C-D613-C9D626182EF1}"/>
                  </a:ext>
                </a:extLst>
              </p14:cNvPr>
              <p14:cNvContentPartPr/>
              <p14:nvPr/>
            </p14:nvContentPartPr>
            <p14:xfrm>
              <a:off x="5257800" y="5600700"/>
              <a:ext cx="3735720" cy="360"/>
            </p14:xfrm>
          </p:contentPart>
        </mc:Choice>
        <mc:Fallback>
          <p:pic>
            <p:nvPicPr>
              <p:cNvPr id="28" name="Input penna 27">
                <a:extLst>
                  <a:ext uri="{FF2B5EF4-FFF2-40B4-BE49-F238E27FC236}">
                    <a16:creationId xmlns:a16="http://schemas.microsoft.com/office/drawing/2014/main" id="{8F1769B2-2CE0-4D7C-D613-C9D626182EF1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167800" y="5420700"/>
                <a:ext cx="3915360" cy="360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296611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7222393" cy="10262467"/>
            <a:chOff x="0" y="0"/>
            <a:chExt cx="1965452" cy="27927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65453" cy="2792757"/>
            </a:xfrm>
            <a:custGeom>
              <a:avLst/>
              <a:gdLst/>
              <a:ahLst/>
              <a:cxnLst/>
              <a:rect l="l" t="t" r="r" b="b"/>
              <a:pathLst>
                <a:path w="1965453" h="2792757">
                  <a:moveTo>
                    <a:pt x="0" y="0"/>
                  </a:moveTo>
                  <a:lnTo>
                    <a:pt x="1965453" y="0"/>
                  </a:lnTo>
                  <a:lnTo>
                    <a:pt x="1965453" y="2792757"/>
                  </a:lnTo>
                  <a:lnTo>
                    <a:pt x="0" y="2792757"/>
                  </a:lnTo>
                  <a:close/>
                </a:path>
              </a:pathLst>
            </a:custGeom>
            <a:gradFill rotWithShape="1">
              <a:gsLst>
                <a:gs pos="0">
                  <a:srgbClr val="565656">
                    <a:alpha val="100000"/>
                  </a:srgbClr>
                </a:gs>
                <a:gs pos="50000">
                  <a:srgbClr val="575757">
                    <a:alpha val="0"/>
                  </a:srgbClr>
                </a:gs>
                <a:gs pos="100000">
                  <a:srgbClr val="8C0808">
                    <a:alpha val="100000"/>
                  </a:srgbClr>
                </a:gs>
              </a:gsLst>
              <a:lin ang="0"/>
            </a:gradFill>
            <a:ln w="9525" cap="sq">
              <a:gradFill>
                <a:gsLst>
                  <a:gs pos="0">
                    <a:srgbClr val="565656">
                      <a:alpha val="100000"/>
                    </a:srgbClr>
                  </a:gs>
                  <a:gs pos="50000">
                    <a:srgbClr val="575757">
                      <a:alpha val="0"/>
                    </a:srgbClr>
                  </a:gs>
                  <a:gs pos="100000">
                    <a:srgbClr val="8C0808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965452" cy="28308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-5400000" flipH="1" flipV="1">
            <a:off x="2358480" y="5352683"/>
            <a:ext cx="3175246" cy="317525"/>
          </a:xfrm>
          <a:custGeom>
            <a:avLst/>
            <a:gdLst/>
            <a:ahLst/>
            <a:cxnLst/>
            <a:rect l="l" t="t" r="r" b="b"/>
            <a:pathLst>
              <a:path w="3175246" h="317525">
                <a:moveTo>
                  <a:pt x="3175246" y="317524"/>
                </a:moveTo>
                <a:lnTo>
                  <a:pt x="0" y="317524"/>
                </a:lnTo>
                <a:lnTo>
                  <a:pt x="0" y="0"/>
                </a:lnTo>
                <a:lnTo>
                  <a:pt x="3175246" y="0"/>
                </a:lnTo>
                <a:lnTo>
                  <a:pt x="3175246" y="31752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AutoShape 6"/>
          <p:cNvSpPr/>
          <p:nvPr/>
        </p:nvSpPr>
        <p:spPr>
          <a:xfrm flipV="1">
            <a:off x="7871007" y="6129132"/>
            <a:ext cx="9390247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7" name="Freeform 7"/>
          <p:cNvSpPr/>
          <p:nvPr/>
        </p:nvSpPr>
        <p:spPr>
          <a:xfrm>
            <a:off x="9849026" y="8451852"/>
            <a:ext cx="5434133" cy="943652"/>
          </a:xfrm>
          <a:custGeom>
            <a:avLst/>
            <a:gdLst/>
            <a:ahLst/>
            <a:cxnLst/>
            <a:rect l="l" t="t" r="r" b="b"/>
            <a:pathLst>
              <a:path w="5434133" h="943652">
                <a:moveTo>
                  <a:pt x="0" y="0"/>
                </a:moveTo>
                <a:lnTo>
                  <a:pt x="5434133" y="0"/>
                </a:lnTo>
                <a:lnTo>
                  <a:pt x="5434133" y="943652"/>
                </a:lnTo>
                <a:lnTo>
                  <a:pt x="0" y="9436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866" t="-42418" r="-9114" b="-53688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8" name="Freeform 8"/>
          <p:cNvSpPr/>
          <p:nvPr/>
        </p:nvSpPr>
        <p:spPr>
          <a:xfrm>
            <a:off x="14827090" y="214340"/>
            <a:ext cx="2667484" cy="1744896"/>
          </a:xfrm>
          <a:custGeom>
            <a:avLst/>
            <a:gdLst/>
            <a:ahLst/>
            <a:cxnLst/>
            <a:rect l="l" t="t" r="r" b="b"/>
            <a:pathLst>
              <a:path w="2667484" h="1744896">
                <a:moveTo>
                  <a:pt x="0" y="0"/>
                </a:moveTo>
                <a:lnTo>
                  <a:pt x="2667484" y="0"/>
                </a:lnTo>
                <a:lnTo>
                  <a:pt x="2667484" y="1744895"/>
                </a:lnTo>
                <a:lnTo>
                  <a:pt x="0" y="174489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9" name="Freeform 9"/>
          <p:cNvSpPr/>
          <p:nvPr/>
        </p:nvSpPr>
        <p:spPr>
          <a:xfrm>
            <a:off x="10186798" y="4445427"/>
            <a:ext cx="5280943" cy="1437416"/>
          </a:xfrm>
          <a:custGeom>
            <a:avLst/>
            <a:gdLst/>
            <a:ahLst/>
            <a:cxnLst/>
            <a:rect l="l" t="t" r="r" b="b"/>
            <a:pathLst>
              <a:path w="5280943" h="1437416">
                <a:moveTo>
                  <a:pt x="0" y="0"/>
                </a:moveTo>
                <a:lnTo>
                  <a:pt x="5280944" y="0"/>
                </a:lnTo>
                <a:lnTo>
                  <a:pt x="5280944" y="1437416"/>
                </a:lnTo>
                <a:lnTo>
                  <a:pt x="0" y="143741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3023" t="-2959" r="-5797" b="-17442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0" name="Freeform 10"/>
          <p:cNvSpPr/>
          <p:nvPr/>
        </p:nvSpPr>
        <p:spPr>
          <a:xfrm>
            <a:off x="9955878" y="0"/>
            <a:ext cx="5219990" cy="5164135"/>
          </a:xfrm>
          <a:custGeom>
            <a:avLst/>
            <a:gdLst/>
            <a:ahLst/>
            <a:cxnLst/>
            <a:rect l="l" t="t" r="r" b="b"/>
            <a:pathLst>
              <a:path w="5219990" h="5164135">
                <a:moveTo>
                  <a:pt x="0" y="0"/>
                </a:moveTo>
                <a:lnTo>
                  <a:pt x="5219990" y="0"/>
                </a:lnTo>
                <a:lnTo>
                  <a:pt x="5219990" y="5164135"/>
                </a:lnTo>
                <a:lnTo>
                  <a:pt x="0" y="516413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540" b="-540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1" name="TextBox 11"/>
          <p:cNvSpPr txBox="1"/>
          <p:nvPr/>
        </p:nvSpPr>
        <p:spPr>
          <a:xfrm>
            <a:off x="931075" y="7356243"/>
            <a:ext cx="6155525" cy="6456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64176" lvl="1" algn="l">
              <a:lnSpc>
                <a:spcPts val="5159"/>
              </a:lnSpc>
            </a:pPr>
            <a:r>
              <a:rPr lang="en-US" sz="4299" b="1" spc="-85" dirty="0">
                <a:solidFill>
                  <a:srgbClr val="201F1F"/>
                </a:solidFill>
                <a:latin typeface="Telegraf Bold"/>
                <a:ea typeface="Telegraf Bold"/>
                <a:cs typeface="Telegraf Bold"/>
                <a:sym typeface="Telegraf Bold"/>
              </a:rPr>
              <a:t>3. MPC Integration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562279" y="1610662"/>
            <a:ext cx="2818147" cy="1538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019"/>
              </a:lnSpc>
            </a:pPr>
            <a:r>
              <a:rPr lang="en-US" sz="3349" spc="-66" dirty="0">
                <a:solidFill>
                  <a:srgbClr val="201F1F"/>
                </a:solidFill>
                <a:latin typeface="Telegraf"/>
                <a:ea typeface="Telegraf"/>
                <a:cs typeface="Telegraf"/>
                <a:sym typeface="Telegraf"/>
              </a:rPr>
              <a:t>Drone’s state and</a:t>
            </a:r>
          </a:p>
          <a:p>
            <a:pPr marL="0" lvl="1" indent="0" algn="r">
              <a:lnSpc>
                <a:spcPts val="4019"/>
              </a:lnSpc>
              <a:spcBef>
                <a:spcPct val="0"/>
              </a:spcBef>
            </a:pPr>
            <a:r>
              <a:rPr lang="en-US" sz="3349" spc="-66" dirty="0">
                <a:solidFill>
                  <a:srgbClr val="201F1F"/>
                </a:solidFill>
                <a:latin typeface="Telegraf"/>
                <a:ea typeface="Telegraf"/>
                <a:cs typeface="Telegraf"/>
                <a:sym typeface="Telegraf"/>
              </a:rPr>
              <a:t> Box Shape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31075" y="2276475"/>
            <a:ext cx="5517281" cy="1343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64176" lvl="1" algn="ctr">
              <a:lnSpc>
                <a:spcPts val="5159"/>
              </a:lnSpc>
            </a:pPr>
            <a:r>
              <a:rPr lang="en-US" sz="4299" b="1" spc="-85" dirty="0">
                <a:solidFill>
                  <a:srgbClr val="201F1F"/>
                </a:solidFill>
                <a:latin typeface="Telegraf Bold"/>
                <a:ea typeface="Telegraf Bold"/>
                <a:cs typeface="Telegraf Bold"/>
                <a:sym typeface="Telegraf Bold"/>
              </a:rPr>
              <a:t>2. Neural Network Training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751758" y="2367900"/>
            <a:ext cx="2818147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4019"/>
              </a:lnSpc>
              <a:spcBef>
                <a:spcPct val="0"/>
              </a:spcBef>
            </a:pPr>
            <a:r>
              <a:rPr lang="en-US" sz="3349" spc="-66">
                <a:solidFill>
                  <a:srgbClr val="201F1F"/>
                </a:solidFill>
                <a:latin typeface="Telegraf"/>
                <a:ea typeface="Telegraf"/>
                <a:cs typeface="Telegraf"/>
                <a:sym typeface="Telegraf"/>
              </a:rPr>
              <a:t>Scaling Factor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870968" y="6707189"/>
            <a:ext cx="9912603" cy="2066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4019"/>
              </a:lnSpc>
              <a:spcBef>
                <a:spcPct val="0"/>
              </a:spcBef>
            </a:pPr>
            <a:r>
              <a:rPr lang="en-US" sz="3349" spc="-66">
                <a:solidFill>
                  <a:srgbClr val="201F1F"/>
                </a:solidFill>
                <a:latin typeface="Telegraf"/>
                <a:ea typeface="Telegraf"/>
                <a:cs typeface="Telegraf"/>
                <a:sym typeface="Telegraf"/>
              </a:rPr>
              <a:t>MPC computes the optimal trajectory towards the target, integrating the trained Neural Network as a terminal constraint to prevent short-sighted collisions: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33462" y="4156604"/>
            <a:ext cx="14930279" cy="503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19"/>
              </a:lnSpc>
              <a:spcBef>
                <a:spcPct val="0"/>
              </a:spcBef>
            </a:pPr>
            <a:r>
              <a:rPr lang="en-US" sz="3349" b="1" u="none" strike="noStrike" spc="-66" dirty="0">
                <a:solidFill>
                  <a:srgbClr val="201F1F"/>
                </a:solidFill>
                <a:latin typeface="Telegraf Bold"/>
                <a:ea typeface="Telegraf Bold"/>
                <a:cs typeface="Telegraf Bold"/>
                <a:sym typeface="Telegraf Bold"/>
              </a:rPr>
              <a:t>Test: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3150" u="none" strike="noStrike" spc="-63" dirty="0">
                <a:solidFill>
                  <a:srgbClr val="201F1F"/>
                </a:solidFill>
                <a:latin typeface="Telegraf"/>
                <a:ea typeface="Telegraf"/>
                <a:cs typeface="Telegraf"/>
                <a:sym typeface="Telegraf"/>
              </a:rPr>
              <a:t>Pure predictive reliability comparison between RBOC and DeepReach on a Ground Truth OCP dataset</a:t>
            </a:r>
          </a:p>
          <a:p>
            <a:pPr algn="l">
              <a:lnSpc>
                <a:spcPts val="4019"/>
              </a:lnSpc>
              <a:spcBef>
                <a:spcPct val="0"/>
              </a:spcBef>
            </a:pPr>
            <a:endParaRPr lang="en-US" sz="3150" u="none" strike="noStrike" spc="-63" dirty="0">
              <a:solidFill>
                <a:srgbClr val="201F1F"/>
              </a:solidFill>
              <a:latin typeface="Telegraf"/>
              <a:ea typeface="Telegraf"/>
              <a:cs typeface="Telegraf"/>
              <a:sym typeface="Telegraf"/>
            </a:endParaRPr>
          </a:p>
          <a:p>
            <a:pPr algn="l">
              <a:lnSpc>
                <a:spcPts val="4019"/>
              </a:lnSpc>
              <a:spcBef>
                <a:spcPct val="0"/>
              </a:spcBef>
            </a:pPr>
            <a:r>
              <a:rPr lang="en-US" sz="3349" b="1" u="none" strike="noStrike" spc="-66" dirty="0">
                <a:solidFill>
                  <a:srgbClr val="201F1F"/>
                </a:solidFill>
                <a:latin typeface="Telegraf Bold"/>
                <a:ea typeface="Telegraf Bold"/>
                <a:cs typeface="Telegraf Bold"/>
                <a:sym typeface="Telegraf Bold"/>
              </a:rPr>
              <a:t>Metric:</a:t>
            </a:r>
          </a:p>
          <a:p>
            <a:pPr algn="l">
              <a:lnSpc>
                <a:spcPts val="4019"/>
              </a:lnSpc>
              <a:spcBef>
                <a:spcPct val="0"/>
              </a:spcBef>
            </a:pPr>
            <a:endParaRPr lang="en-US" sz="3349" b="1" u="none" strike="noStrike" spc="-66" dirty="0">
              <a:solidFill>
                <a:srgbClr val="201F1F"/>
              </a:solidFill>
              <a:latin typeface="Telegraf Bold"/>
              <a:ea typeface="Telegraf Bold"/>
              <a:cs typeface="Telegraf Bold"/>
              <a:sym typeface="Telegraf Bold"/>
            </a:endParaRPr>
          </a:p>
          <a:p>
            <a:pPr marL="723264" lvl="1" indent="-361632" algn="l">
              <a:lnSpc>
                <a:spcPts val="4019"/>
              </a:lnSpc>
              <a:spcBef>
                <a:spcPct val="0"/>
              </a:spcBef>
              <a:buFont typeface="Arial"/>
              <a:buChar char="•"/>
            </a:pPr>
            <a:r>
              <a:rPr lang="en-US" sz="3349" b="1" spc="-66" dirty="0">
                <a:solidFill>
                  <a:srgbClr val="201F1F"/>
                </a:solidFill>
                <a:latin typeface="Telegraf Bold"/>
                <a:ea typeface="Telegraf"/>
                <a:cs typeface="Telegraf"/>
                <a:sym typeface="Telegraf Bold"/>
              </a:rPr>
              <a:t>RBOC</a:t>
            </a:r>
            <a:r>
              <a:rPr lang="en-US" sz="3349" u="none" strike="noStrike" spc="-66" dirty="0">
                <a:solidFill>
                  <a:srgbClr val="201F1F"/>
                </a:solidFill>
                <a:latin typeface="Telegraf"/>
                <a:ea typeface="Telegraf"/>
                <a:cs typeface="Telegraf"/>
                <a:sym typeface="Telegraf"/>
              </a:rPr>
              <a:t> →</a:t>
            </a:r>
          </a:p>
          <a:p>
            <a:pPr algn="l">
              <a:lnSpc>
                <a:spcPts val="4019"/>
              </a:lnSpc>
              <a:spcBef>
                <a:spcPct val="0"/>
              </a:spcBef>
            </a:pPr>
            <a:endParaRPr lang="en-US" sz="3349" u="none" strike="noStrike" spc="-66" dirty="0">
              <a:solidFill>
                <a:srgbClr val="201F1F"/>
              </a:solidFill>
              <a:latin typeface="Telegraf"/>
              <a:ea typeface="Telegraf"/>
              <a:cs typeface="Telegraf"/>
              <a:sym typeface="Telegraf"/>
            </a:endParaRPr>
          </a:p>
          <a:p>
            <a:pPr algn="l">
              <a:lnSpc>
                <a:spcPts val="4019"/>
              </a:lnSpc>
              <a:spcBef>
                <a:spcPct val="0"/>
              </a:spcBef>
            </a:pPr>
            <a:endParaRPr lang="en-US" sz="3349" u="none" strike="noStrike" spc="-66" dirty="0">
              <a:solidFill>
                <a:srgbClr val="201F1F"/>
              </a:solidFill>
              <a:latin typeface="Telegraf"/>
              <a:ea typeface="Telegraf"/>
              <a:cs typeface="Telegraf"/>
              <a:sym typeface="Telegraf"/>
            </a:endParaRPr>
          </a:p>
          <a:p>
            <a:pPr marL="723264" lvl="1" indent="-361632" algn="l">
              <a:lnSpc>
                <a:spcPts val="4019"/>
              </a:lnSpc>
              <a:spcBef>
                <a:spcPct val="0"/>
              </a:spcBef>
              <a:buFont typeface="Arial"/>
              <a:buChar char="•"/>
            </a:pPr>
            <a:r>
              <a:rPr lang="en-US" sz="3349" b="1" u="none" strike="noStrike" spc="-66" dirty="0">
                <a:solidFill>
                  <a:srgbClr val="201F1F"/>
                </a:solidFill>
                <a:latin typeface="Telegraf Bold"/>
                <a:ea typeface="Telegraf Bold"/>
                <a:cs typeface="Telegraf Bold"/>
                <a:sym typeface="Telegraf Bold"/>
              </a:rPr>
              <a:t>DeepReach </a:t>
            </a:r>
            <a:r>
              <a:rPr lang="en-US" sz="3349" u="none" strike="noStrike" spc="-66" dirty="0">
                <a:solidFill>
                  <a:srgbClr val="201F1F"/>
                </a:solidFill>
                <a:latin typeface="Telegraf"/>
                <a:ea typeface="Telegraf"/>
                <a:cs typeface="Telegraf"/>
                <a:sym typeface="Telegraf"/>
              </a:rPr>
              <a:t>→</a:t>
            </a:r>
          </a:p>
        </p:txBody>
      </p:sp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8420904" y="5485100"/>
          <a:ext cx="8649187" cy="4324350"/>
        </p:xfrm>
        <a:graphic>
          <a:graphicData uri="http://schemas.openxmlformats.org/drawingml/2006/table">
            <a:tbl>
              <a:tblPr/>
              <a:tblGrid>
                <a:gridCol w="28974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84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83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64870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Model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Ground Truth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4870"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True Alarm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4870"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False Alarm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1">
                      <a:gsLst>
                        <a:gs pos="0">
                          <a:srgbClr val="FF9869">
                            <a:alpha val="100000"/>
                          </a:srgbClr>
                        </a:gs>
                        <a:gs pos="100000">
                          <a:srgbClr val="FFD2BD">
                            <a:alpha val="100000"/>
                          </a:srgbClr>
                        </a:gs>
                      </a:gsLst>
                      <a:lin ang="5400000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1">
                      <a:gsLst>
                        <a:gs pos="0">
                          <a:srgbClr val="FF9869">
                            <a:alpha val="100000"/>
                          </a:srgbClr>
                        </a:gs>
                        <a:gs pos="100000">
                          <a:srgbClr val="FFD2BD">
                            <a:alpha val="100000"/>
                          </a:srgbClr>
                        </a:gs>
                      </a:gsLst>
                      <a:lin ang="5400000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1">
                      <a:gsLst>
                        <a:gs pos="0">
                          <a:srgbClr val="FF9869">
                            <a:alpha val="100000"/>
                          </a:srgbClr>
                        </a:gs>
                        <a:gs pos="100000">
                          <a:srgbClr val="FFD2BD">
                            <a:alpha val="100000"/>
                          </a:srgbClr>
                        </a:gs>
                      </a:gsLst>
                      <a:lin ang="54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4870"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True Safe Pred.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4870"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Missed Alarm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1">
                      <a:gsLst>
                        <a:gs pos="0">
                          <a:srgbClr val="FF6767">
                            <a:alpha val="100000"/>
                          </a:srgbClr>
                        </a:gs>
                        <a:gs pos="100000">
                          <a:srgbClr val="FFD1D1">
                            <a:alpha val="100000"/>
                          </a:srgbClr>
                        </a:gs>
                      </a:gsLst>
                      <a:lin ang="5400000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1">
                      <a:gsLst>
                        <a:gs pos="0">
                          <a:srgbClr val="FF6767">
                            <a:alpha val="100000"/>
                          </a:srgbClr>
                        </a:gs>
                        <a:gs pos="100000">
                          <a:srgbClr val="FFD1D1">
                            <a:alpha val="100000"/>
                          </a:srgbClr>
                        </a:gs>
                      </a:gsLst>
                      <a:lin ang="5400000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1">
                      <a:gsLst>
                        <a:gs pos="0">
                          <a:srgbClr val="FF6767">
                            <a:alpha val="100000"/>
                          </a:srgbClr>
                        </a:gs>
                        <a:gs pos="100000">
                          <a:srgbClr val="FFD1D1">
                            <a:alpha val="100000"/>
                          </a:srgbClr>
                        </a:gs>
                      </a:gsLst>
                      <a:lin ang="54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Freeform 4"/>
          <p:cNvSpPr/>
          <p:nvPr/>
        </p:nvSpPr>
        <p:spPr>
          <a:xfrm>
            <a:off x="12642693" y="6579827"/>
            <a:ext cx="519399" cy="522166"/>
          </a:xfrm>
          <a:custGeom>
            <a:avLst/>
            <a:gdLst/>
            <a:ahLst/>
            <a:cxnLst/>
            <a:rect l="l" t="t" r="r" b="b"/>
            <a:pathLst>
              <a:path w="519399" h="522166">
                <a:moveTo>
                  <a:pt x="0" y="0"/>
                </a:moveTo>
                <a:lnTo>
                  <a:pt x="519399" y="0"/>
                </a:lnTo>
                <a:lnTo>
                  <a:pt x="519399" y="522166"/>
                </a:lnTo>
                <a:lnTo>
                  <a:pt x="0" y="5221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5" name="Freeform 5"/>
          <p:cNvSpPr/>
          <p:nvPr/>
        </p:nvSpPr>
        <p:spPr>
          <a:xfrm>
            <a:off x="12642693" y="7383778"/>
            <a:ext cx="519399" cy="522166"/>
          </a:xfrm>
          <a:custGeom>
            <a:avLst/>
            <a:gdLst/>
            <a:ahLst/>
            <a:cxnLst/>
            <a:rect l="l" t="t" r="r" b="b"/>
            <a:pathLst>
              <a:path w="519399" h="522166">
                <a:moveTo>
                  <a:pt x="0" y="0"/>
                </a:moveTo>
                <a:lnTo>
                  <a:pt x="519399" y="0"/>
                </a:lnTo>
                <a:lnTo>
                  <a:pt x="519399" y="522166"/>
                </a:lnTo>
                <a:lnTo>
                  <a:pt x="0" y="5221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Freeform 6"/>
          <p:cNvSpPr/>
          <p:nvPr/>
        </p:nvSpPr>
        <p:spPr>
          <a:xfrm>
            <a:off x="15504041" y="6579827"/>
            <a:ext cx="519399" cy="522166"/>
          </a:xfrm>
          <a:custGeom>
            <a:avLst/>
            <a:gdLst/>
            <a:ahLst/>
            <a:cxnLst/>
            <a:rect l="l" t="t" r="r" b="b"/>
            <a:pathLst>
              <a:path w="519399" h="522166">
                <a:moveTo>
                  <a:pt x="0" y="0"/>
                </a:moveTo>
                <a:lnTo>
                  <a:pt x="519399" y="0"/>
                </a:lnTo>
                <a:lnTo>
                  <a:pt x="519399" y="522166"/>
                </a:lnTo>
                <a:lnTo>
                  <a:pt x="0" y="5221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7" name="Freeform 7"/>
          <p:cNvSpPr/>
          <p:nvPr/>
        </p:nvSpPr>
        <p:spPr>
          <a:xfrm>
            <a:off x="15431483" y="7351693"/>
            <a:ext cx="664514" cy="586336"/>
          </a:xfrm>
          <a:custGeom>
            <a:avLst/>
            <a:gdLst/>
            <a:ahLst/>
            <a:cxnLst/>
            <a:rect l="l" t="t" r="r" b="b"/>
            <a:pathLst>
              <a:path w="664514" h="586336">
                <a:moveTo>
                  <a:pt x="0" y="0"/>
                </a:moveTo>
                <a:lnTo>
                  <a:pt x="664514" y="0"/>
                </a:lnTo>
                <a:lnTo>
                  <a:pt x="664514" y="586336"/>
                </a:lnTo>
                <a:lnTo>
                  <a:pt x="0" y="5863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8" name="Freeform 8"/>
          <p:cNvSpPr/>
          <p:nvPr/>
        </p:nvSpPr>
        <p:spPr>
          <a:xfrm>
            <a:off x="12642693" y="8191694"/>
            <a:ext cx="664514" cy="586336"/>
          </a:xfrm>
          <a:custGeom>
            <a:avLst/>
            <a:gdLst/>
            <a:ahLst/>
            <a:cxnLst/>
            <a:rect l="l" t="t" r="r" b="b"/>
            <a:pathLst>
              <a:path w="664514" h="586336">
                <a:moveTo>
                  <a:pt x="0" y="0"/>
                </a:moveTo>
                <a:lnTo>
                  <a:pt x="664514" y="0"/>
                </a:lnTo>
                <a:lnTo>
                  <a:pt x="664514" y="586336"/>
                </a:lnTo>
                <a:lnTo>
                  <a:pt x="0" y="5863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9" name="Freeform 9"/>
          <p:cNvSpPr/>
          <p:nvPr/>
        </p:nvSpPr>
        <p:spPr>
          <a:xfrm>
            <a:off x="15431483" y="8185679"/>
            <a:ext cx="664514" cy="586336"/>
          </a:xfrm>
          <a:custGeom>
            <a:avLst/>
            <a:gdLst/>
            <a:ahLst/>
            <a:cxnLst/>
            <a:rect l="l" t="t" r="r" b="b"/>
            <a:pathLst>
              <a:path w="664514" h="586336">
                <a:moveTo>
                  <a:pt x="0" y="0"/>
                </a:moveTo>
                <a:lnTo>
                  <a:pt x="664514" y="0"/>
                </a:lnTo>
                <a:lnTo>
                  <a:pt x="664514" y="586336"/>
                </a:lnTo>
                <a:lnTo>
                  <a:pt x="0" y="5863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0" name="Freeform 10"/>
          <p:cNvSpPr/>
          <p:nvPr/>
        </p:nvSpPr>
        <p:spPr>
          <a:xfrm>
            <a:off x="15504041" y="9095865"/>
            <a:ext cx="519399" cy="522166"/>
          </a:xfrm>
          <a:custGeom>
            <a:avLst/>
            <a:gdLst/>
            <a:ahLst/>
            <a:cxnLst/>
            <a:rect l="l" t="t" r="r" b="b"/>
            <a:pathLst>
              <a:path w="519399" h="522166">
                <a:moveTo>
                  <a:pt x="0" y="0"/>
                </a:moveTo>
                <a:lnTo>
                  <a:pt x="519399" y="0"/>
                </a:lnTo>
                <a:lnTo>
                  <a:pt x="519399" y="522166"/>
                </a:lnTo>
                <a:lnTo>
                  <a:pt x="0" y="5221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1" name="Freeform 11"/>
          <p:cNvSpPr/>
          <p:nvPr/>
        </p:nvSpPr>
        <p:spPr>
          <a:xfrm>
            <a:off x="12642693" y="9063780"/>
            <a:ext cx="664514" cy="586336"/>
          </a:xfrm>
          <a:custGeom>
            <a:avLst/>
            <a:gdLst/>
            <a:ahLst/>
            <a:cxnLst/>
            <a:rect l="l" t="t" r="r" b="b"/>
            <a:pathLst>
              <a:path w="664514" h="586336">
                <a:moveTo>
                  <a:pt x="0" y="0"/>
                </a:moveTo>
                <a:lnTo>
                  <a:pt x="664514" y="0"/>
                </a:lnTo>
                <a:lnTo>
                  <a:pt x="664514" y="586336"/>
                </a:lnTo>
                <a:lnTo>
                  <a:pt x="0" y="5863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12" name="Group 12"/>
          <p:cNvGrpSpPr/>
          <p:nvPr/>
        </p:nvGrpSpPr>
        <p:grpSpPr>
          <a:xfrm rot="5400000">
            <a:off x="13556546" y="-1161319"/>
            <a:ext cx="2819575" cy="6643334"/>
            <a:chOff x="0" y="0"/>
            <a:chExt cx="214140" cy="50454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14140" cy="504546"/>
            </a:xfrm>
            <a:custGeom>
              <a:avLst/>
              <a:gdLst/>
              <a:ahLst/>
              <a:cxnLst/>
              <a:rect l="l" t="t" r="r" b="b"/>
              <a:pathLst>
                <a:path w="214140" h="504546">
                  <a:moveTo>
                    <a:pt x="0" y="0"/>
                  </a:moveTo>
                  <a:lnTo>
                    <a:pt x="214140" y="0"/>
                  </a:lnTo>
                  <a:lnTo>
                    <a:pt x="214140" y="504546"/>
                  </a:lnTo>
                  <a:lnTo>
                    <a:pt x="0" y="504546"/>
                  </a:lnTo>
                  <a:close/>
                </a:path>
              </a:pathLst>
            </a:custGeom>
            <a:gradFill rotWithShape="1">
              <a:gsLst>
                <a:gs pos="0">
                  <a:srgbClr val="565656">
                    <a:alpha val="50000"/>
                  </a:srgbClr>
                </a:gs>
                <a:gs pos="100000">
                  <a:srgbClr val="575757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it-IT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214140" cy="5426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3152996" y="-253465"/>
            <a:ext cx="5195869" cy="4634558"/>
            <a:chOff x="0" y="0"/>
            <a:chExt cx="950619" cy="84792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950619" cy="847924"/>
            </a:xfrm>
            <a:custGeom>
              <a:avLst/>
              <a:gdLst/>
              <a:ahLst/>
              <a:cxnLst/>
              <a:rect l="l" t="t" r="r" b="b"/>
              <a:pathLst>
                <a:path w="950619" h="847924">
                  <a:moveTo>
                    <a:pt x="0" y="0"/>
                  </a:moveTo>
                  <a:lnTo>
                    <a:pt x="950619" y="0"/>
                  </a:lnTo>
                  <a:lnTo>
                    <a:pt x="950619" y="847924"/>
                  </a:lnTo>
                  <a:lnTo>
                    <a:pt x="0" y="847924"/>
                  </a:lnTo>
                  <a:close/>
                </a:path>
              </a:pathLst>
            </a:custGeom>
            <a:gradFill rotWithShape="1">
              <a:gsLst>
                <a:gs pos="0">
                  <a:srgbClr val="565656">
                    <a:alpha val="100000"/>
                  </a:srgbClr>
                </a:gs>
                <a:gs pos="100000">
                  <a:srgbClr val="575757">
                    <a:alpha val="0"/>
                  </a:srgbClr>
                </a:gs>
              </a:gsLst>
              <a:lin ang="0"/>
            </a:gradFill>
            <a:ln w="9525" cap="sq">
              <a:gradFill>
                <a:gsLst>
                  <a:gs pos="0">
                    <a:srgbClr val="565656">
                      <a:alpha val="100000"/>
                    </a:srgbClr>
                  </a:gs>
                  <a:gs pos="100000">
                    <a:srgbClr val="575757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950619" cy="8860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Freeform 18"/>
          <p:cNvSpPr/>
          <p:nvPr/>
        </p:nvSpPr>
        <p:spPr>
          <a:xfrm>
            <a:off x="3366981" y="6749521"/>
            <a:ext cx="4862619" cy="1365779"/>
          </a:xfrm>
          <a:custGeom>
            <a:avLst/>
            <a:gdLst/>
            <a:ahLst/>
            <a:cxnLst/>
            <a:rect l="l" t="t" r="r" b="b"/>
            <a:pathLst>
              <a:path w="5247434" h="1364585">
                <a:moveTo>
                  <a:pt x="0" y="0"/>
                </a:moveTo>
                <a:lnTo>
                  <a:pt x="5247434" y="0"/>
                </a:lnTo>
                <a:lnTo>
                  <a:pt x="5247434" y="1364585"/>
                </a:lnTo>
                <a:lnTo>
                  <a:pt x="0" y="136458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586" t="-23224" b="-5199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9" name="Freeform 19"/>
          <p:cNvSpPr/>
          <p:nvPr/>
        </p:nvSpPr>
        <p:spPr>
          <a:xfrm>
            <a:off x="4809135" y="8581749"/>
            <a:ext cx="2859859" cy="875832"/>
          </a:xfrm>
          <a:custGeom>
            <a:avLst/>
            <a:gdLst/>
            <a:ahLst/>
            <a:cxnLst/>
            <a:rect l="l" t="t" r="r" b="b"/>
            <a:pathLst>
              <a:path w="2859859" h="875832">
                <a:moveTo>
                  <a:pt x="0" y="0"/>
                </a:moveTo>
                <a:lnTo>
                  <a:pt x="2859859" y="0"/>
                </a:lnTo>
                <a:lnTo>
                  <a:pt x="2859859" y="875832"/>
                </a:lnTo>
                <a:lnTo>
                  <a:pt x="0" y="8758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0" name="TextBox 20"/>
          <p:cNvSpPr txBox="1"/>
          <p:nvPr/>
        </p:nvSpPr>
        <p:spPr>
          <a:xfrm>
            <a:off x="833462" y="1176478"/>
            <a:ext cx="10811205" cy="10274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061"/>
              </a:lnSpc>
            </a:pPr>
            <a:r>
              <a:rPr lang="en-US" sz="8827">
                <a:solidFill>
                  <a:srgbClr val="201F1F"/>
                </a:solidFill>
                <a:latin typeface="Bicubik"/>
                <a:ea typeface="Bicubik"/>
                <a:cs typeface="Bicubik"/>
                <a:sym typeface="Bicubik"/>
              </a:rPr>
              <a:t>RESULTS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78067" y="2791158"/>
            <a:ext cx="10811205" cy="7181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639"/>
              </a:lnSpc>
            </a:pPr>
            <a:r>
              <a:rPr lang="en-US" sz="4699" b="1" spc="-93" dirty="0">
                <a:solidFill>
                  <a:srgbClr val="201F1F"/>
                </a:solidFill>
                <a:latin typeface="Telegraf Bold"/>
                <a:ea typeface="Telegraf Bold"/>
                <a:cs typeface="Telegraf Bold"/>
                <a:sym typeface="Telegraf Bold"/>
              </a:rPr>
              <a:t>I. Safety Validation (vs. DeepReach)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473802" y="4543373"/>
            <a:ext cx="9814198" cy="5781727"/>
          </a:xfrm>
          <a:custGeom>
            <a:avLst/>
            <a:gdLst/>
            <a:ahLst/>
            <a:cxnLst/>
            <a:rect l="l" t="t" r="r" b="b"/>
            <a:pathLst>
              <a:path w="9814198" h="5781727">
                <a:moveTo>
                  <a:pt x="0" y="0"/>
                </a:moveTo>
                <a:lnTo>
                  <a:pt x="9814198" y="0"/>
                </a:lnTo>
                <a:lnTo>
                  <a:pt x="9814198" y="5781727"/>
                </a:lnTo>
                <a:lnTo>
                  <a:pt x="0" y="57817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5251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Freeform 3"/>
          <p:cNvSpPr/>
          <p:nvPr/>
        </p:nvSpPr>
        <p:spPr>
          <a:xfrm>
            <a:off x="0" y="-14107"/>
            <a:ext cx="9437359" cy="5462407"/>
          </a:xfrm>
          <a:custGeom>
            <a:avLst/>
            <a:gdLst/>
            <a:ahLst/>
            <a:cxnLst/>
            <a:rect l="l" t="t" r="r" b="b"/>
            <a:pathLst>
              <a:path w="9437359" h="5462407">
                <a:moveTo>
                  <a:pt x="0" y="0"/>
                </a:moveTo>
                <a:lnTo>
                  <a:pt x="9437359" y="0"/>
                </a:lnTo>
                <a:lnTo>
                  <a:pt x="9437359" y="5462406"/>
                </a:lnTo>
                <a:lnTo>
                  <a:pt x="0" y="54624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309" r="-2365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TextBox 4"/>
          <p:cNvSpPr txBox="1"/>
          <p:nvPr/>
        </p:nvSpPr>
        <p:spPr>
          <a:xfrm>
            <a:off x="10155660" y="1472547"/>
            <a:ext cx="7103640" cy="1981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19"/>
              </a:lnSpc>
              <a:spcBef>
                <a:spcPct val="0"/>
              </a:spcBef>
            </a:pPr>
            <a:r>
              <a:rPr lang="en-US" sz="3349" b="1" u="none" strike="noStrike" spc="-66" dirty="0">
                <a:solidFill>
                  <a:srgbClr val="201F1F"/>
                </a:solidFill>
                <a:latin typeface="Telegraf Bold"/>
                <a:ea typeface="Telegraf Bold"/>
                <a:cs typeface="Telegraf Bold"/>
                <a:sym typeface="Telegraf Bold"/>
              </a:rPr>
              <a:t>Result: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3150" u="none" strike="noStrike" spc="-63" dirty="0">
                <a:solidFill>
                  <a:srgbClr val="201F1F"/>
                </a:solidFill>
                <a:latin typeface="Telegraf"/>
                <a:ea typeface="Telegraf"/>
                <a:cs typeface="Telegraf"/>
                <a:sym typeface="Telegraf"/>
              </a:rPr>
              <a:t>RBOC dramatically reduces the Missed Alarm rate compared to DeepReach method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3703394"/>
              </p:ext>
            </p:extLst>
          </p:nvPr>
        </p:nvGraphicFramePr>
        <p:xfrm>
          <a:off x="1028700" y="4376737"/>
          <a:ext cx="6972207" cy="5248276"/>
        </p:xfrm>
        <a:graphic>
          <a:graphicData uri="http://schemas.openxmlformats.org/drawingml/2006/table">
            <a:tbl>
              <a:tblPr/>
              <a:tblGrid>
                <a:gridCol w="34159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70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1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26628"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1">
                          <a:solidFill>
                            <a:srgbClr val="000000">
                              <a:alpha val="92941"/>
                            </a:srgbClr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RBOC-MPC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1">
                          <a:solidFill>
                            <a:srgbClr val="000000">
                              <a:alpha val="92941"/>
                            </a:srgbClr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Std-MPC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6628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1">
                          <a:solidFill>
                            <a:srgbClr val="000000">
                              <a:alpha val="92941"/>
                            </a:srgbClr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Collisions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>
                              <a:alpha val="92941"/>
                            </a:srgbClr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0%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1">
                      <a:gsLst>
                        <a:gs pos="0">
                          <a:srgbClr val="6A8AFF">
                            <a:alpha val="93000"/>
                          </a:srgbClr>
                        </a:gs>
                        <a:gs pos="100000">
                          <a:srgbClr val="B2FBFF">
                            <a:alpha val="93000"/>
                          </a:srgbClr>
                        </a:gs>
                      </a:gsLst>
                      <a:lin ang="18900000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>
                              <a:alpha val="92941"/>
                            </a:srgbClr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82%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1">
                      <a:gsLst>
                        <a:gs pos="0">
                          <a:srgbClr val="FF4353">
                            <a:alpha val="93000"/>
                          </a:srgbClr>
                        </a:gs>
                        <a:gs pos="100000">
                          <a:srgbClr val="FFD294">
                            <a:alpha val="93000"/>
                          </a:srgbClr>
                        </a:gs>
                      </a:gsLst>
                      <a:lin ang="189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1764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1">
                          <a:solidFill>
                            <a:srgbClr val="000000">
                              <a:alpha val="92941"/>
                            </a:srgbClr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Reach and maintain target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>
                              <a:alpha val="92941"/>
                            </a:srgbClr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yes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1">
                      <a:gsLst>
                        <a:gs pos="0">
                          <a:srgbClr val="6A8AFF">
                            <a:alpha val="93000"/>
                          </a:srgbClr>
                        </a:gs>
                        <a:gs pos="100000">
                          <a:srgbClr val="B2FBFF">
                            <a:alpha val="93000"/>
                          </a:srgbClr>
                        </a:gs>
                      </a:gsLst>
                      <a:lin ang="18900000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>
                              <a:alpha val="92941"/>
                            </a:srgbClr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yes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1">
                      <a:gsLst>
                        <a:gs pos="0">
                          <a:srgbClr val="6A8AFF">
                            <a:alpha val="93000"/>
                          </a:srgbClr>
                        </a:gs>
                        <a:gs pos="100000">
                          <a:srgbClr val="B2FBFF">
                            <a:alpha val="93000"/>
                          </a:srgbClr>
                        </a:gs>
                      </a:gsLst>
                      <a:lin ang="189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6628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1">
                          <a:solidFill>
                            <a:srgbClr val="000000">
                              <a:alpha val="92941"/>
                            </a:srgbClr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Distacnce [m]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>
                              <a:alpha val="92941"/>
                            </a:srgbClr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45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1">
                      <a:gsLst>
                        <a:gs pos="0">
                          <a:srgbClr val="6A8AFF">
                            <a:alpha val="93000"/>
                          </a:srgbClr>
                        </a:gs>
                        <a:gs pos="100000">
                          <a:srgbClr val="B2FBFF">
                            <a:alpha val="93000"/>
                          </a:srgbClr>
                        </a:gs>
                      </a:gsLst>
                      <a:lin ang="18900000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>
                              <a:alpha val="92941"/>
                            </a:srgbClr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46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1">
                      <a:gsLst>
                        <a:gs pos="0">
                          <a:srgbClr val="6A8AFF">
                            <a:alpha val="93000"/>
                          </a:srgbClr>
                        </a:gs>
                        <a:gs pos="100000">
                          <a:srgbClr val="B2FBFF">
                            <a:alpha val="93000"/>
                          </a:srgbClr>
                        </a:gs>
                      </a:gsLst>
                      <a:lin ang="189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26628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1">
                          <a:solidFill>
                            <a:srgbClr val="000000">
                              <a:alpha val="92941"/>
                            </a:srgbClr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Cost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>
                              <a:alpha val="92941"/>
                            </a:srgbClr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17582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1">
                      <a:gsLst>
                        <a:gs pos="0">
                          <a:srgbClr val="6A8AFF">
                            <a:alpha val="93000"/>
                          </a:srgbClr>
                        </a:gs>
                        <a:gs pos="100000">
                          <a:srgbClr val="B2FBFF">
                            <a:alpha val="93000"/>
                          </a:srgbClr>
                        </a:gs>
                      </a:gsLst>
                      <a:lin ang="18900000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dirty="0">
                          <a:solidFill>
                            <a:srgbClr val="000000">
                              <a:alpha val="92941"/>
                            </a:srgbClr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11498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1">
                      <a:gsLst>
                        <a:gs pos="0">
                          <a:srgbClr val="6A8AFF">
                            <a:alpha val="93000"/>
                          </a:srgbClr>
                        </a:gs>
                        <a:gs pos="100000">
                          <a:srgbClr val="B2FBFF">
                            <a:alpha val="93000"/>
                          </a:srgbClr>
                        </a:gs>
                      </a:gsLst>
                      <a:lin ang="189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Freeform 3"/>
          <p:cNvSpPr/>
          <p:nvPr/>
        </p:nvSpPr>
        <p:spPr>
          <a:xfrm rot="-723743" flipV="1">
            <a:off x="11509399" y="3957429"/>
            <a:ext cx="1960322" cy="1156590"/>
          </a:xfrm>
          <a:custGeom>
            <a:avLst/>
            <a:gdLst/>
            <a:ahLst/>
            <a:cxnLst/>
            <a:rect l="l" t="t" r="r" b="b"/>
            <a:pathLst>
              <a:path w="1960322" h="1156590">
                <a:moveTo>
                  <a:pt x="0" y="1156590"/>
                </a:moveTo>
                <a:lnTo>
                  <a:pt x="1960322" y="1156590"/>
                </a:lnTo>
                <a:lnTo>
                  <a:pt x="1960322" y="0"/>
                </a:lnTo>
                <a:lnTo>
                  <a:pt x="0" y="0"/>
                </a:lnTo>
                <a:lnTo>
                  <a:pt x="0" y="115659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TextBox 4"/>
          <p:cNvSpPr txBox="1"/>
          <p:nvPr/>
        </p:nvSpPr>
        <p:spPr>
          <a:xfrm>
            <a:off x="1028700" y="614362"/>
            <a:ext cx="12992100" cy="14859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639"/>
              </a:lnSpc>
            </a:pPr>
            <a:r>
              <a:rPr lang="en-US" sz="4699" b="1" spc="-93" dirty="0">
                <a:solidFill>
                  <a:srgbClr val="201F1F"/>
                </a:solidFill>
                <a:latin typeface="Telegraf Bold"/>
                <a:ea typeface="Telegraf Bold"/>
                <a:cs typeface="Telegraf Bold"/>
                <a:sym typeface="Telegraf Bold"/>
              </a:rPr>
              <a:t>II. Navigation Performance - velocity target</a:t>
            </a:r>
          </a:p>
          <a:p>
            <a:pPr algn="l">
              <a:lnSpc>
                <a:spcPts val="5639"/>
              </a:lnSpc>
            </a:pPr>
            <a:r>
              <a:rPr lang="en-US" sz="4699" b="1" spc="-93" dirty="0">
                <a:solidFill>
                  <a:srgbClr val="201F1F"/>
                </a:solidFill>
                <a:latin typeface="Telegraf Bold"/>
                <a:ea typeface="Telegraf Bold"/>
                <a:cs typeface="Telegraf Bold"/>
                <a:sym typeface="Telegraf Bold"/>
              </a:rPr>
              <a:t>(vs. State-of-the-Art methods)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90700" y="2462212"/>
            <a:ext cx="16744641" cy="1504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19"/>
              </a:lnSpc>
              <a:spcBef>
                <a:spcPct val="0"/>
              </a:spcBef>
            </a:pPr>
            <a:r>
              <a:rPr lang="en-US" sz="3349" b="1" u="none" strike="noStrike" spc="-66">
                <a:solidFill>
                  <a:srgbClr val="201F1F"/>
                </a:solidFill>
                <a:latin typeface="Telegraf Bold"/>
                <a:ea typeface="Telegraf Bold"/>
                <a:cs typeface="Telegraf Bold"/>
                <a:sym typeface="Telegraf Bold"/>
              </a:rPr>
              <a:t>Test:</a:t>
            </a:r>
          </a:p>
          <a:p>
            <a:pPr marL="0" lvl="0" indent="0" algn="l">
              <a:lnSpc>
                <a:spcPts val="3779"/>
              </a:lnSpc>
              <a:spcBef>
                <a:spcPct val="0"/>
              </a:spcBef>
            </a:pPr>
            <a:r>
              <a:rPr lang="en-US" sz="3150" u="none" strike="noStrike" spc="-63">
                <a:solidFill>
                  <a:srgbClr val="201F1F"/>
                </a:solidFill>
                <a:latin typeface="Telegraf"/>
                <a:ea typeface="Telegraf"/>
                <a:cs typeface="Telegraf"/>
                <a:sym typeface="Telegraf"/>
              </a:rPr>
              <a:t>Autonomous navigation in two unknown environments with varying obstacle densities, where the drone must track a target velocity solely in the x-direction.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74689" y="4581525"/>
            <a:ext cx="5547262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20"/>
              </a:lnSpc>
              <a:spcBef>
                <a:spcPct val="0"/>
              </a:spcBef>
            </a:pPr>
            <a:r>
              <a:rPr lang="en-US" sz="3350" b="1" u="none" strike="noStrike" spc="-67">
                <a:solidFill>
                  <a:srgbClr val="201F1F"/>
                </a:solidFill>
                <a:latin typeface="Telegraf Bold"/>
                <a:ea typeface="Telegraf Bold"/>
                <a:cs typeface="Telegraf Bold"/>
                <a:sym typeface="Telegraf Bold"/>
              </a:rPr>
              <a:t>Results: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593061" y="5033963"/>
            <a:ext cx="5142280" cy="436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19"/>
              </a:lnSpc>
              <a:spcBef>
                <a:spcPct val="0"/>
              </a:spcBef>
            </a:pPr>
            <a:r>
              <a:rPr lang="en-US" sz="3349" b="1" spc="-66">
                <a:solidFill>
                  <a:srgbClr val="201F1F"/>
                </a:solidFill>
                <a:latin typeface="Telegraf Bold"/>
                <a:ea typeface="Telegraf Bold"/>
                <a:cs typeface="Telegraf Bold"/>
                <a:sym typeface="Telegraf Bold"/>
              </a:rPr>
              <a:t>Other l</a:t>
            </a:r>
            <a:r>
              <a:rPr lang="en-US" sz="3349" b="1" u="none" strike="noStrike" spc="-66">
                <a:solidFill>
                  <a:srgbClr val="201F1F"/>
                </a:solidFill>
                <a:latin typeface="Telegraf Bold"/>
                <a:ea typeface="Telegraf Bold"/>
                <a:cs typeface="Telegraf Bold"/>
                <a:sym typeface="Telegraf Bold"/>
              </a:rPr>
              <a:t>imits:</a:t>
            </a:r>
          </a:p>
          <a:p>
            <a:pPr marL="680085" lvl="1" indent="-340042" algn="l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sz="3150" u="none" strike="noStrike" spc="-63">
                <a:solidFill>
                  <a:srgbClr val="201F1F"/>
                </a:solidFill>
                <a:latin typeface="Telegraf"/>
                <a:ea typeface="Telegraf"/>
                <a:cs typeface="Telegraf"/>
                <a:sym typeface="Telegraf"/>
              </a:rPr>
              <a:t>stopping at local minimum</a:t>
            </a:r>
          </a:p>
          <a:p>
            <a:pPr marL="680085" lvl="1" indent="-340042" algn="l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sz="3150" u="none" strike="noStrike" spc="-63">
                <a:solidFill>
                  <a:srgbClr val="201F1F"/>
                </a:solidFill>
                <a:latin typeface="Telegraf"/>
                <a:ea typeface="Telegraf"/>
                <a:cs typeface="Telegraf"/>
                <a:sym typeface="Telegraf"/>
              </a:rPr>
              <a:t>oversimplifies the UAV by considering it a point mass</a:t>
            </a:r>
          </a:p>
          <a:p>
            <a:pPr marL="680085" lvl="1" indent="-340042" algn="l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sz="3150" u="none" strike="noStrike" spc="-63">
                <a:solidFill>
                  <a:srgbClr val="201F1F"/>
                </a:solidFill>
                <a:latin typeface="Telegraf"/>
                <a:ea typeface="Telegraf"/>
                <a:cs typeface="Telegraf"/>
                <a:sym typeface="Telegraf"/>
              </a:rPr>
              <a:t>user-defined gains are highly environment-dependent</a:t>
            </a:r>
          </a:p>
        </p:txBody>
      </p:sp>
      <p:graphicFrame>
        <p:nvGraphicFramePr>
          <p:cNvPr id="8" name="Tabella 7">
            <a:extLst>
              <a:ext uri="{FF2B5EF4-FFF2-40B4-BE49-F238E27FC236}">
                <a16:creationId xmlns:a16="http://schemas.microsoft.com/office/drawing/2014/main" id="{66290147-1F23-E81F-28BE-4E8479FBA7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1664158"/>
              </p:ext>
            </p:extLst>
          </p:nvPr>
        </p:nvGraphicFramePr>
        <p:xfrm>
          <a:off x="9953328" y="4381500"/>
          <a:ext cx="1705272" cy="5248276"/>
        </p:xfrm>
        <a:graphic>
          <a:graphicData uri="http://schemas.openxmlformats.org/drawingml/2006/table">
            <a:tbl>
              <a:tblPr/>
              <a:tblGrid>
                <a:gridCol w="1705272">
                  <a:extLst>
                    <a:ext uri="{9D8B030D-6E8A-4147-A177-3AD203B41FA5}">
                      <a16:colId xmlns:a16="http://schemas.microsoft.com/office/drawing/2014/main" val="3539144259"/>
                    </a:ext>
                  </a:extLst>
                </a:gridCol>
              </a:tblGrid>
              <a:tr h="1026628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1" dirty="0">
                          <a:solidFill>
                            <a:srgbClr val="000000">
                              <a:alpha val="92941"/>
                            </a:srgbClr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APF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5014257"/>
                  </a:ext>
                </a:extLst>
              </a:tr>
              <a:tr h="1026628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>
                              <a:alpha val="92941"/>
                            </a:srgbClr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0%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1">
                      <a:gsLst>
                        <a:gs pos="0">
                          <a:srgbClr val="6A8AFF">
                            <a:alpha val="93000"/>
                          </a:srgbClr>
                        </a:gs>
                        <a:gs pos="100000">
                          <a:srgbClr val="B2FBFF">
                            <a:alpha val="93000"/>
                          </a:srgbClr>
                        </a:gs>
                      </a:gsLst>
                      <a:lin ang="189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4142312681"/>
                  </a:ext>
                </a:extLst>
              </a:tr>
              <a:tr h="1141764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>
                              <a:alpha val="92941"/>
                            </a:srgbClr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enough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1">
                      <a:gsLst>
                        <a:gs pos="0">
                          <a:srgbClr val="62BFD4">
                            <a:alpha val="93000"/>
                          </a:srgbClr>
                        </a:gs>
                        <a:gs pos="100000">
                          <a:srgbClr val="F1DD76">
                            <a:alpha val="93000"/>
                          </a:srgbClr>
                        </a:gs>
                      </a:gsLst>
                      <a:lin ang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545813255"/>
                  </a:ext>
                </a:extLst>
              </a:tr>
              <a:tr h="1026628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>
                              <a:alpha val="92941"/>
                            </a:srgbClr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31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1">
                      <a:gsLst>
                        <a:gs pos="0">
                          <a:srgbClr val="62BFD4">
                            <a:alpha val="93000"/>
                          </a:srgbClr>
                        </a:gs>
                        <a:gs pos="100000">
                          <a:srgbClr val="F1DD76">
                            <a:alpha val="93000"/>
                          </a:srgbClr>
                        </a:gs>
                      </a:gsLst>
                      <a:lin ang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329432830"/>
                  </a:ext>
                </a:extLst>
              </a:tr>
              <a:tr h="1026628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dirty="0">
                          <a:solidFill>
                            <a:srgbClr val="000000">
                              <a:alpha val="92941"/>
                            </a:srgbClr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92736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1">
                      <a:gsLst>
                        <a:gs pos="0">
                          <a:srgbClr val="F19A5C">
                            <a:alpha val="93000"/>
                          </a:srgbClr>
                        </a:gs>
                        <a:gs pos="100000">
                          <a:srgbClr val="F9DB6F">
                            <a:alpha val="93000"/>
                          </a:srgbClr>
                        </a:gs>
                      </a:gsLst>
                      <a:lin ang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334767472"/>
                  </a:ext>
                </a:extLst>
              </a:tr>
            </a:tbl>
          </a:graphicData>
        </a:graphic>
      </p:graphicFrame>
      <p:graphicFrame>
        <p:nvGraphicFramePr>
          <p:cNvPr id="9" name="Tabella 8">
            <a:extLst>
              <a:ext uri="{FF2B5EF4-FFF2-40B4-BE49-F238E27FC236}">
                <a16:creationId xmlns:a16="http://schemas.microsoft.com/office/drawing/2014/main" id="{98D27840-C0D0-A791-EA5E-0A652AD15D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342948"/>
              </p:ext>
            </p:extLst>
          </p:nvPr>
        </p:nvGraphicFramePr>
        <p:xfrm>
          <a:off x="8001000" y="4381500"/>
          <a:ext cx="1945713" cy="5248276"/>
        </p:xfrm>
        <a:graphic>
          <a:graphicData uri="http://schemas.openxmlformats.org/drawingml/2006/table">
            <a:tbl>
              <a:tblPr/>
              <a:tblGrid>
                <a:gridCol w="1945713">
                  <a:extLst>
                    <a:ext uri="{9D8B030D-6E8A-4147-A177-3AD203B41FA5}">
                      <a16:colId xmlns:a16="http://schemas.microsoft.com/office/drawing/2014/main" val="1648299768"/>
                    </a:ext>
                  </a:extLst>
                </a:gridCol>
              </a:tblGrid>
              <a:tr h="1026628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1" dirty="0">
                          <a:solidFill>
                            <a:srgbClr val="000000">
                              <a:alpha val="92941"/>
                            </a:srgbClr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Zero-TC MPC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4383502"/>
                  </a:ext>
                </a:extLst>
              </a:tr>
              <a:tr h="1026628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dirty="0">
                          <a:solidFill>
                            <a:srgbClr val="000000">
                              <a:alpha val="92941"/>
                            </a:srgbClr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0%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1">
                      <a:gsLst>
                        <a:gs pos="0">
                          <a:srgbClr val="6A8AFF">
                            <a:alpha val="93000"/>
                          </a:srgbClr>
                        </a:gs>
                        <a:gs pos="100000">
                          <a:srgbClr val="B2FBFF">
                            <a:alpha val="93000"/>
                          </a:srgbClr>
                        </a:gs>
                      </a:gsLst>
                      <a:lin ang="189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92564314"/>
                  </a:ext>
                </a:extLst>
              </a:tr>
              <a:tr h="1141764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dirty="0">
                          <a:solidFill>
                            <a:srgbClr val="000000">
                              <a:alpha val="92941"/>
                            </a:srgbClr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no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1">
                      <a:gsLst>
                        <a:gs pos="0">
                          <a:srgbClr val="FF4353">
                            <a:alpha val="93000"/>
                          </a:srgbClr>
                        </a:gs>
                        <a:gs pos="100000">
                          <a:srgbClr val="FFD294">
                            <a:alpha val="93000"/>
                          </a:srgbClr>
                        </a:gs>
                      </a:gsLst>
                      <a:lin ang="189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306563746"/>
                  </a:ext>
                </a:extLst>
              </a:tr>
              <a:tr h="1026628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dirty="0">
                          <a:solidFill>
                            <a:srgbClr val="000000">
                              <a:alpha val="92941"/>
                            </a:srgbClr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1.8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1">
                      <a:gsLst>
                        <a:gs pos="0">
                          <a:srgbClr val="FF4353">
                            <a:alpha val="93000"/>
                          </a:srgbClr>
                        </a:gs>
                        <a:gs pos="100000">
                          <a:srgbClr val="FFD294">
                            <a:alpha val="93000"/>
                          </a:srgbClr>
                        </a:gs>
                      </a:gsLst>
                      <a:lin ang="189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335534730"/>
                  </a:ext>
                </a:extLst>
              </a:tr>
              <a:tr h="1026628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dirty="0">
                          <a:solidFill>
                            <a:srgbClr val="000000">
                              <a:alpha val="92941"/>
                            </a:srgbClr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238867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1">
                      <a:gsLst>
                        <a:gs pos="0">
                          <a:srgbClr val="FF4353">
                            <a:alpha val="93000"/>
                          </a:srgbClr>
                        </a:gs>
                        <a:gs pos="100000">
                          <a:srgbClr val="FFD294">
                            <a:alpha val="93000"/>
                          </a:srgbClr>
                        </a:gs>
                      </a:gsLst>
                      <a:lin ang="189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43107609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rcRect l="31721" t="11257" r="27014" b="17883"/>
          <a:stretch>
            <a:fillRect/>
          </a:stretch>
        </p:blipFill>
        <p:spPr>
          <a:xfrm>
            <a:off x="1089685" y="1639092"/>
            <a:ext cx="8229799" cy="8243798"/>
          </a:xfrm>
          <a:prstGeom prst="rect">
            <a:avLst/>
          </a:prstGeom>
        </p:spPr>
      </p:pic>
      <p:pic>
        <p:nvPicPr>
          <p:cNvPr id="3" name="Picture 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rcRect l="31763" t="11903" r="26152" b="16914"/>
          <a:stretch>
            <a:fillRect/>
          </a:stretch>
        </p:blipFill>
        <p:spPr>
          <a:xfrm>
            <a:off x="9319484" y="1639092"/>
            <a:ext cx="8355270" cy="8243798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3978191" y="714375"/>
            <a:ext cx="3237137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379"/>
              </a:lnSpc>
              <a:spcBef>
                <a:spcPct val="0"/>
              </a:spcBef>
            </a:pPr>
            <a:r>
              <a:rPr lang="en-US" sz="3649" u="none" strike="noStrike" spc="-72">
                <a:solidFill>
                  <a:srgbClr val="201F1F"/>
                </a:solidFill>
                <a:latin typeface="Telegraf"/>
                <a:ea typeface="Telegraf"/>
                <a:cs typeface="Telegraf"/>
                <a:sym typeface="Telegraf"/>
              </a:rPr>
              <a:t>RBOC-MPC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069784" y="714375"/>
            <a:ext cx="1759690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379"/>
              </a:lnSpc>
              <a:spcBef>
                <a:spcPct val="0"/>
              </a:spcBef>
            </a:pPr>
            <a:r>
              <a:rPr lang="en-US" sz="3649" u="none" strike="noStrike" spc="-72">
                <a:solidFill>
                  <a:srgbClr val="201F1F"/>
                </a:solidFill>
                <a:latin typeface="Telegraf"/>
                <a:ea typeface="Telegraf"/>
                <a:cs typeface="Telegraf"/>
                <a:sym typeface="Telegraf"/>
              </a:rPr>
              <a:t>APF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500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100000" mute="1">
                <p:cTn id="11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100000" mute="1">
                <p:cTn id="1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4194605" cy="235946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94605" cy="2359465"/>
            </a:xfrm>
            <a:custGeom>
              <a:avLst/>
              <a:gdLst/>
              <a:ahLst/>
              <a:cxnLst/>
              <a:rect l="l" t="t" r="r" b="b"/>
              <a:pathLst>
                <a:path w="4194605" h="2359465">
                  <a:moveTo>
                    <a:pt x="0" y="0"/>
                  </a:moveTo>
                  <a:lnTo>
                    <a:pt x="4194605" y="0"/>
                  </a:lnTo>
                  <a:lnTo>
                    <a:pt x="4194605" y="2359465"/>
                  </a:lnTo>
                  <a:lnTo>
                    <a:pt x="0" y="2359465"/>
                  </a:lnTo>
                  <a:close/>
                </a:path>
              </a:pathLst>
            </a:custGeom>
            <a:gradFill rotWithShape="1">
              <a:gsLst>
                <a:gs pos="0">
                  <a:srgbClr val="565656">
                    <a:alpha val="100000"/>
                  </a:srgbClr>
                </a:gs>
                <a:gs pos="50000">
                  <a:srgbClr val="575757">
                    <a:alpha val="0"/>
                  </a:srgbClr>
                </a:gs>
                <a:gs pos="100000">
                  <a:srgbClr val="8C0808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9525" cap="sq">
              <a:gradFill>
                <a:gsLst>
                  <a:gs pos="0">
                    <a:srgbClr val="565656">
                      <a:alpha val="100000"/>
                    </a:srgbClr>
                  </a:gs>
                  <a:gs pos="100000">
                    <a:srgbClr val="575757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194605" cy="23975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930719" y="1257300"/>
            <a:ext cx="15969181" cy="7755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314"/>
              </a:lnSpc>
              <a:spcBef>
                <a:spcPct val="0"/>
              </a:spcBef>
            </a:pPr>
            <a:r>
              <a:rPr lang="en-US" sz="6642" u="none" strike="noStrike">
                <a:solidFill>
                  <a:srgbClr val="201F1F"/>
                </a:solidFill>
                <a:latin typeface="Bicubik"/>
                <a:ea typeface="Bicubik"/>
                <a:cs typeface="Bicubik"/>
                <a:sym typeface="Bicubik"/>
              </a:rPr>
              <a:t>CONCLUSIONS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978689" y="2583423"/>
            <a:ext cx="6183753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5639"/>
              </a:lnSpc>
              <a:spcBef>
                <a:spcPct val="0"/>
              </a:spcBef>
            </a:pPr>
            <a:r>
              <a:rPr lang="en-US" sz="4699" b="1" u="none" strike="noStrike" spc="-93">
                <a:solidFill>
                  <a:srgbClr val="201F1F"/>
                </a:solidFill>
                <a:latin typeface="Telegraf Bold"/>
                <a:ea typeface="Telegraf Bold"/>
                <a:cs typeface="Telegraf Bold"/>
                <a:sym typeface="Telegraf Bold"/>
              </a:rPr>
              <a:t>Key Contributions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623965" y="2583423"/>
            <a:ext cx="6638320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5639"/>
              </a:lnSpc>
              <a:spcBef>
                <a:spcPct val="0"/>
              </a:spcBef>
            </a:pPr>
            <a:r>
              <a:rPr lang="en-US" sz="4699" b="1" spc="-93">
                <a:solidFill>
                  <a:srgbClr val="201F1F"/>
                </a:solidFill>
                <a:latin typeface="Telegraf Bold"/>
                <a:ea typeface="Telegraf Bold"/>
                <a:cs typeface="Telegraf Bold"/>
                <a:sym typeface="Telegraf Bold"/>
              </a:rPr>
              <a:t>Futur</a:t>
            </a:r>
            <a:r>
              <a:rPr lang="en-US" sz="4699" b="1" u="none" strike="noStrike" spc="-93">
                <a:solidFill>
                  <a:srgbClr val="201F1F"/>
                </a:solidFill>
                <a:latin typeface="Telegraf Bold"/>
                <a:ea typeface="Telegraf Bold"/>
                <a:cs typeface="Telegraf Bold"/>
                <a:sym typeface="Telegraf Bold"/>
              </a:rPr>
              <a:t>e Developments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46961" y="3600450"/>
            <a:ext cx="6712237" cy="2895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80085" lvl="1" indent="-340042" algn="l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sz="3150" u="none" strike="noStrike" spc="-63">
                <a:solidFill>
                  <a:srgbClr val="201F1F"/>
                </a:solidFill>
                <a:latin typeface="Telegraf"/>
                <a:ea typeface="Telegraf"/>
                <a:cs typeface="Telegraf"/>
                <a:sym typeface="Telegraf"/>
              </a:rPr>
              <a:t>Novel Framework: RBOC-MPC</a:t>
            </a:r>
          </a:p>
          <a:p>
            <a:pPr marL="680085" lvl="1" indent="-340042" algn="l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sz="3150" u="none" strike="noStrike" spc="-63">
                <a:solidFill>
                  <a:srgbClr val="201F1F"/>
                </a:solidFill>
                <a:latin typeface="Telegraf"/>
                <a:ea typeface="Telegraf"/>
                <a:cs typeface="Telegraf"/>
                <a:sym typeface="Telegraf"/>
              </a:rPr>
              <a:t>Guaranteed Safety</a:t>
            </a:r>
          </a:p>
          <a:p>
            <a:pPr marL="680085" lvl="1" indent="-340042" algn="l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sz="3150" u="none" strike="noStrike" spc="-63">
                <a:solidFill>
                  <a:srgbClr val="201F1F"/>
                </a:solidFill>
                <a:latin typeface="Telegraf"/>
                <a:ea typeface="Telegraf"/>
                <a:cs typeface="Telegraf"/>
                <a:sym typeface="Telegraf"/>
              </a:rPr>
              <a:t>Superiority in both safety management and achieving the assigned target compared to other methods tested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423940" y="3600450"/>
            <a:ext cx="6712237" cy="2419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80085" lvl="1" indent="-340042" algn="l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sz="3150" spc="-63">
                <a:solidFill>
                  <a:srgbClr val="201F1F"/>
                </a:solidFill>
                <a:latin typeface="Telegraf"/>
                <a:ea typeface="Telegraf"/>
                <a:cs typeface="Telegraf"/>
                <a:sym typeface="Telegraf"/>
              </a:rPr>
              <a:t>Gl</a:t>
            </a:r>
            <a:r>
              <a:rPr lang="en-US" sz="3150" u="none" strike="noStrike" spc="-63">
                <a:solidFill>
                  <a:srgbClr val="201F1F"/>
                </a:solidFill>
                <a:latin typeface="Telegraf"/>
                <a:ea typeface="Telegraf"/>
                <a:cs typeface="Telegraf"/>
                <a:sym typeface="Telegraf"/>
              </a:rPr>
              <a:t>obal Path Planning Integration to limit stalls and recovery conditions</a:t>
            </a:r>
          </a:p>
          <a:p>
            <a:pPr marL="680085" lvl="1" indent="-340042" algn="l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sz="3150" u="none" strike="noStrike" spc="-63">
                <a:solidFill>
                  <a:srgbClr val="201F1F"/>
                </a:solidFill>
                <a:latin typeface="Telegraf"/>
                <a:ea typeface="Telegraf"/>
                <a:cs typeface="Telegraf"/>
                <a:sym typeface="Telegraf"/>
              </a:rPr>
              <a:t>Complex geometries for safe-box</a:t>
            </a:r>
          </a:p>
          <a:p>
            <a:pPr marL="680085" lvl="1" indent="-340042" algn="l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sz="3150" u="none" strike="noStrike" spc="-63">
                <a:solidFill>
                  <a:srgbClr val="201F1F"/>
                </a:solidFill>
                <a:latin typeface="Telegraf"/>
                <a:ea typeface="Telegraf"/>
                <a:cs typeface="Telegraf"/>
                <a:sym typeface="Telegraf"/>
              </a:rPr>
              <a:t>Real-World Validation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7549482" y="7098045"/>
            <a:ext cx="3588119" cy="2491881"/>
            <a:chOff x="0" y="0"/>
            <a:chExt cx="555894" cy="38605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55894" cy="386058"/>
            </a:xfrm>
            <a:custGeom>
              <a:avLst/>
              <a:gdLst/>
              <a:ahLst/>
              <a:cxnLst/>
              <a:rect l="l" t="t" r="r" b="b"/>
              <a:pathLst>
                <a:path w="555894" h="386058">
                  <a:moveTo>
                    <a:pt x="0" y="0"/>
                  </a:moveTo>
                  <a:lnTo>
                    <a:pt x="555894" y="0"/>
                  </a:lnTo>
                  <a:lnTo>
                    <a:pt x="555894" y="386058"/>
                  </a:lnTo>
                  <a:lnTo>
                    <a:pt x="0" y="386058"/>
                  </a:lnTo>
                  <a:close/>
                </a:path>
              </a:pathLst>
            </a:custGeom>
            <a:blipFill>
              <a:blip r:embed="rId3"/>
              <a:stretch>
                <a:fillRect t="-487" b="-487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14" name="Freeform 14"/>
          <p:cNvSpPr/>
          <p:nvPr/>
        </p:nvSpPr>
        <p:spPr>
          <a:xfrm rot="-10800000" flipH="1" flipV="1">
            <a:off x="2837142" y="7610641"/>
            <a:ext cx="1417005" cy="905170"/>
          </a:xfrm>
          <a:custGeom>
            <a:avLst/>
            <a:gdLst/>
            <a:ahLst/>
            <a:cxnLst/>
            <a:rect l="l" t="t" r="r" b="b"/>
            <a:pathLst>
              <a:path w="1417005" h="905170">
                <a:moveTo>
                  <a:pt x="1417006" y="905170"/>
                </a:moveTo>
                <a:lnTo>
                  <a:pt x="0" y="905170"/>
                </a:lnTo>
                <a:lnTo>
                  <a:pt x="0" y="0"/>
                </a:lnTo>
                <a:lnTo>
                  <a:pt x="1417006" y="0"/>
                </a:lnTo>
                <a:lnTo>
                  <a:pt x="1417006" y="90517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r="-66651" b="-42775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5" name="Freeform 15"/>
          <p:cNvSpPr/>
          <p:nvPr/>
        </p:nvSpPr>
        <p:spPr>
          <a:xfrm rot="-10800000" flipH="1" flipV="1">
            <a:off x="3810335" y="8063226"/>
            <a:ext cx="2142039" cy="1368315"/>
          </a:xfrm>
          <a:custGeom>
            <a:avLst/>
            <a:gdLst/>
            <a:ahLst/>
            <a:cxnLst/>
            <a:rect l="l" t="t" r="r" b="b"/>
            <a:pathLst>
              <a:path w="2142039" h="1368315">
                <a:moveTo>
                  <a:pt x="2142039" y="1368315"/>
                </a:moveTo>
                <a:lnTo>
                  <a:pt x="0" y="1368315"/>
                </a:lnTo>
                <a:lnTo>
                  <a:pt x="0" y="0"/>
                </a:lnTo>
                <a:lnTo>
                  <a:pt x="2142039" y="0"/>
                </a:lnTo>
                <a:lnTo>
                  <a:pt x="2142039" y="136831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r="-66651" b="-42775"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16" name="Group 16"/>
          <p:cNvGrpSpPr/>
          <p:nvPr/>
        </p:nvGrpSpPr>
        <p:grpSpPr>
          <a:xfrm rot="-10800000">
            <a:off x="9343542" y="2443613"/>
            <a:ext cx="99323" cy="4178182"/>
            <a:chOff x="0" y="0"/>
            <a:chExt cx="26159" cy="1100427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6159" cy="1100427"/>
            </a:xfrm>
            <a:custGeom>
              <a:avLst/>
              <a:gdLst/>
              <a:ahLst/>
              <a:cxnLst/>
              <a:rect l="l" t="t" r="r" b="b"/>
              <a:pathLst>
                <a:path w="26159" h="1100427">
                  <a:moveTo>
                    <a:pt x="0" y="0"/>
                  </a:moveTo>
                  <a:lnTo>
                    <a:pt x="26159" y="0"/>
                  </a:lnTo>
                  <a:lnTo>
                    <a:pt x="26159" y="1100427"/>
                  </a:lnTo>
                  <a:lnTo>
                    <a:pt x="0" y="1100427"/>
                  </a:lnTo>
                  <a:close/>
                </a:path>
              </a:pathLst>
            </a:custGeom>
            <a:solidFill>
              <a:srgbClr val="201F1F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26159" cy="11385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5"/>
          <p:cNvGrpSpPr/>
          <p:nvPr/>
        </p:nvGrpSpPr>
        <p:grpSpPr>
          <a:xfrm>
            <a:off x="11137601" y="6728357"/>
            <a:ext cx="4711998" cy="3063343"/>
            <a:chOff x="0" y="0"/>
            <a:chExt cx="971604" cy="598852"/>
          </a:xfrm>
        </p:grpSpPr>
        <p:sp>
          <p:nvSpPr>
            <p:cNvPr id="20" name="Freeform 6"/>
            <p:cNvSpPr/>
            <p:nvPr/>
          </p:nvSpPr>
          <p:spPr>
            <a:xfrm>
              <a:off x="0" y="0"/>
              <a:ext cx="971604" cy="598852"/>
            </a:xfrm>
            <a:custGeom>
              <a:avLst/>
              <a:gdLst/>
              <a:ahLst/>
              <a:cxnLst/>
              <a:rect l="l" t="t" r="r" b="b"/>
              <a:pathLst>
                <a:path w="853597" h="624778">
                  <a:moveTo>
                    <a:pt x="0" y="0"/>
                  </a:moveTo>
                  <a:lnTo>
                    <a:pt x="853597" y="0"/>
                  </a:lnTo>
                  <a:lnTo>
                    <a:pt x="853597" y="624778"/>
                  </a:lnTo>
                  <a:lnTo>
                    <a:pt x="0" y="624778"/>
                  </a:lnTo>
                  <a:close/>
                </a:path>
              </a:pathLst>
            </a:custGeom>
            <a:blipFill>
              <a:blip r:embed="rId5"/>
              <a:stretch>
                <a:fillRect t="-16045" b="-37703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Video_Target_03_Successes">
            <a:hlinkClick r:id="" action="ppaction://media"/>
            <a:extLst>
              <a:ext uri="{FF2B5EF4-FFF2-40B4-BE49-F238E27FC236}">
                <a16:creationId xmlns:a16="http://schemas.microsoft.com/office/drawing/2014/main" id="{E336B977-6684-5A0B-C33C-01EF25D00987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2100"/>
                </p14:media>
              </p:ext>
            </p:extLst>
          </p:nvPr>
        </p:nvPicPr>
        <p:blipFill>
          <a:blip r:embed="rId5"/>
          <a:srcRect l="20754" r="23011" b="492"/>
          <a:stretch>
            <a:fillRect/>
          </a:stretch>
        </p:blipFill>
        <p:spPr>
          <a:xfrm>
            <a:off x="4482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43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3050</TotalTime>
  <Words>1169</Words>
  <Application>Microsoft Office PowerPoint</Application>
  <PresentationFormat>Personalizzato</PresentationFormat>
  <Paragraphs>120</Paragraphs>
  <Slides>12</Slides>
  <Notes>12</Notes>
  <HiddenSlides>0</HiddenSlides>
  <MMClips>3</MMClips>
  <ScaleCrop>false</ScaleCrop>
  <HeadingPairs>
    <vt:vector size="6" baseType="variant">
      <vt:variant>
        <vt:lpstr>Caratteri utilizzati</vt:lpstr>
      </vt:variant>
      <vt:variant>
        <vt:i4>10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12</vt:i4>
      </vt:variant>
    </vt:vector>
  </HeadingPairs>
  <TitlesOfParts>
    <vt:vector size="23" baseType="lpstr">
      <vt:lpstr>Telegraf Bold</vt:lpstr>
      <vt:lpstr>Calibri</vt:lpstr>
      <vt:lpstr>Canva Sans</vt:lpstr>
      <vt:lpstr>Canva Sans Bold</vt:lpstr>
      <vt:lpstr>Bicubik</vt:lpstr>
      <vt:lpstr>Cambria Math</vt:lpstr>
      <vt:lpstr>Aptos</vt:lpstr>
      <vt:lpstr>Arial</vt:lpstr>
      <vt:lpstr>Open Sans Bold</vt:lpstr>
      <vt:lpstr>Telegraf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dal Modello</dc:title>
  <cp:lastModifiedBy>Claudia Gava</cp:lastModifiedBy>
  <cp:revision>31</cp:revision>
  <dcterms:created xsi:type="dcterms:W3CDTF">2006-08-16T00:00:00Z</dcterms:created>
  <dcterms:modified xsi:type="dcterms:W3CDTF">2026-10-13T09:53:16Z</dcterms:modified>
  <dc:identifier>DAHUIEQB2Wk</dc:identifier>
</cp:coreProperties>
</file>